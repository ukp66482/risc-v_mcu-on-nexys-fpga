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54" r:id="rId3"/>
    <p:sldMasterId id="2147483656" r:id="rId4"/>
    <p:sldMasterId id="2147483658" r:id="rId5"/>
    <p:sldMasterId id="2147483660" r:id="rId6"/>
    <p:sldMasterId id="2147483662" r:id="rId7"/>
    <p:sldMasterId id="2147483664" r:id="rId8"/>
    <p:sldMasterId id="2147483668" r:id="rId9"/>
  </p:sldMasterIdLst>
  <p:notesMasterIdLst>
    <p:notesMasterId r:id="rId20"/>
  </p:notesMasterIdLst>
  <p:sldIdLst>
    <p:sldId id="256" r:id="rId10"/>
    <p:sldId id="274" r:id="rId11"/>
    <p:sldId id="278" r:id="rId12"/>
    <p:sldId id="279" r:id="rId13"/>
    <p:sldId id="257" r:id="rId14"/>
    <p:sldId id="271" r:id="rId15"/>
    <p:sldId id="273" r:id="rId16"/>
    <p:sldId id="275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07342CF-35FB-406E-8734-9FDFFECECBE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老師，各位同學好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45BB153-1C47-43CE-8548-5E70074E0DD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9856DA5A-CF52-47BD-AC49-21DC5CAD223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8213D05B-FB84-4633-9C9A-120521AE31C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334800" y="1482840"/>
            <a:ext cx="56678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6286320" y="1482840"/>
            <a:ext cx="56678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4D52DAE0-7E1F-47D1-9074-2A72228EBBE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EA6B1832-4525-49F4-BECE-BB125EA60FA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C597E3EE-548C-4723-B409-01695788DAA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lstStyle/>
          <a:p>
            <a:fld id="{3EA9670E-C16E-42E9-A125-B8BEB164725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fld id="{16774CDD-D255-4571-A23A-6C752D253CB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pic>
        <p:nvPicPr>
          <p:cNvPr id="8" name="Google Shape;17;p16" descr="7"/>
          <p:cNvPicPr/>
          <p:nvPr/>
        </p:nvPicPr>
        <p:blipFill>
          <a:blip r:embed="rId4"/>
          <a:stretch/>
        </p:blipFill>
        <p:spPr>
          <a:xfrm>
            <a:off x="0" y="1828800"/>
            <a:ext cx="12191400" cy="2556720"/>
          </a:xfrm>
          <a:prstGeom prst="rect">
            <a:avLst/>
          </a:prstGeom>
          <a:ln w="0">
            <a:noFill/>
          </a:ln>
        </p:spPr>
      </p:pic>
      <p:pic>
        <p:nvPicPr>
          <p:cNvPr id="2" name="Google Shape;18;p16" descr="9"/>
          <p:cNvPicPr/>
          <p:nvPr/>
        </p:nvPicPr>
        <p:blipFill>
          <a:blip r:embed="rId5"/>
          <a:stretch/>
        </p:blipFill>
        <p:spPr>
          <a:xfrm>
            <a:off x="0" y="1523880"/>
            <a:ext cx="12191400" cy="8056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165560" y="6400800"/>
            <a:ext cx="385992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0" y="6400800"/>
            <a:ext cx="25394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ftr" idx="6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sldNum" idx="7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9D7E20C-AB3C-40DA-ABAE-309E590DD45F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8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ftr" idx="9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sldNum" idx="10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F51F372-F396-4EE6-B42B-32E3712AEE90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11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ftr" idx="12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sldNum" idx="13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BA9D5F-2332-4B87-B30D-F4375F4595FA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4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34800" y="1482840"/>
            <a:ext cx="56678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86680" y="1482840"/>
            <a:ext cx="56678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ftr" idx="15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sldNum" idx="16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793562-07C8-4769-A52D-574B53D31BD0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7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ftr" idx="18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sldNum" idx="19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9734889-943C-42D0-93AB-AC837AF29C8C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0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ftr" idx="21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2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24DDFF8-CEFB-44E6-B41E-DA3786F44A2C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3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ftr" idx="24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sldNum" idx="25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BD17E14-7FC7-4BF2-8F95-E143412ED8FF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6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ftr" idx="30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sldNum" idx="31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BB08C5-53A2-4AAC-BA76-554DF1EE9073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2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ubTitle"/>
          </p:nvPr>
        </p:nvSpPr>
        <p:spPr>
          <a:xfrm>
            <a:off x="3997080" y="2286000"/>
            <a:ext cx="5603760" cy="160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lt1"/>
                </a:solidFill>
                <a:latin typeface="Arial"/>
                <a:ea typeface="Times New Roman"/>
              </a:rPr>
              <a:t>RISC-V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lt1"/>
                </a:solidFill>
                <a:latin typeface="Arial"/>
                <a:ea typeface="Times New Roman"/>
              </a:rPr>
              <a:t>On Cmod-A7-35T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文字方塊 1"/>
          <p:cNvSpPr/>
          <p:nvPr/>
        </p:nvSpPr>
        <p:spPr>
          <a:xfrm>
            <a:off x="7886880" y="6263640"/>
            <a:ext cx="4121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Developed by Wei-Feng Huang, DICLAB, NCKU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3CB5C-B2D4-60EF-03DA-4102F52F4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2D160DEC-BA85-3F13-32B9-B2BD0AAA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Outline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35929A-EEB5-117D-54CD-459EF48CEBA7}"/>
              </a:ext>
            </a:extLst>
          </p:cNvPr>
          <p:cNvSpPr txBox="1"/>
          <p:nvPr/>
        </p:nvSpPr>
        <p:spPr>
          <a:xfrm>
            <a:off x="572575" y="1468582"/>
            <a:ext cx="9642764" cy="5171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</p:txBody>
      </p:sp>
    </p:spTree>
    <p:extLst>
      <p:ext uri="{BB962C8B-B14F-4D97-AF65-F5344CB8AC3E}">
        <p14:creationId xmlns:p14="http://schemas.microsoft.com/office/powerpoint/2010/main" val="117663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DDFAA8-6B65-E6F0-37D8-75C5B536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FPGA</a:t>
            </a:r>
            <a:r>
              <a:rPr lang="zh-TW" altLang="en-US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Selection and Spec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F8A503-CF43-1329-DA53-9A2E17625E4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74208" y="1779896"/>
            <a:ext cx="10972080" cy="4085195"/>
          </a:xfrm>
        </p:spPr>
        <p:txBody>
          <a:bodyPr anchor="t" anchorCtr="0">
            <a:noAutofit/>
          </a:bodyPr>
          <a:lstStyle/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Board: Cmod-A7-35T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Chip: xc7a35tcpg236-1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readboard-friendly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48-pin DIP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48 DIP pins at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LVCMOS33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(3.3 V logic level)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series resistors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direct connection to FPGA I/O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pins: 0–3.3 V input, scaled to 0–1 V via on-board voltage divider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3,092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9D00D-9BEA-67F5-E63F-96D13C0C145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455320" y="1865520"/>
            <a:ext cx="2844000" cy="20948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533469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72C25B-91F2-8B92-1473-A19912CD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FPGA</a:t>
            </a:r>
            <a:r>
              <a:rPr lang="zh-TW" altLang="en-US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Selection and Spec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0F2788-E8B9-10F1-4D43-670B61ADD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544" y="1865744"/>
            <a:ext cx="1713864" cy="4761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80F3199-EF38-CEDC-1870-EBA18CBB6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740" y="2952007"/>
            <a:ext cx="5583382" cy="297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6D96022-A0CB-59F9-747D-89E2BE0CFE0D}"/>
              </a:ext>
            </a:extLst>
          </p:cNvPr>
          <p:cNvSpPr/>
          <p:nvPr/>
        </p:nvSpPr>
        <p:spPr>
          <a:xfrm>
            <a:off x="5698837" y="2952007"/>
            <a:ext cx="951345" cy="797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A6BA85A5-D995-1C8C-B319-13603D51DE64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6650182" y="3350986"/>
            <a:ext cx="2025362" cy="15350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024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Overview</a:t>
            </a: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矩形: 圓角 3"/>
          <p:cNvSpPr/>
          <p:nvPr/>
        </p:nvSpPr>
        <p:spPr>
          <a:xfrm>
            <a:off x="3159724" y="276776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MicroBlaze V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矩形: 圓角 4"/>
          <p:cNvSpPr/>
          <p:nvPr/>
        </p:nvSpPr>
        <p:spPr>
          <a:xfrm>
            <a:off x="1533604" y="2767761"/>
            <a:ext cx="106380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Debug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Module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矩形: 圓角 6"/>
          <p:cNvSpPr/>
          <p:nvPr/>
        </p:nvSpPr>
        <p:spPr>
          <a:xfrm>
            <a:off x="7218004" y="2742561"/>
            <a:ext cx="3492360" cy="81180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GPIO * 7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矩形: 圓角 7"/>
          <p:cNvSpPr/>
          <p:nvPr/>
        </p:nvSpPr>
        <p:spPr>
          <a:xfrm>
            <a:off x="5626749" y="504659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AXI Timer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5" name="直線單箭頭接點 11"/>
          <p:cNvCxnSpPr>
            <a:stCxn id="71" idx="3"/>
            <a:endCxn id="70" idx="1"/>
          </p:cNvCxnSpPr>
          <p:nvPr/>
        </p:nvCxnSpPr>
        <p:spPr>
          <a:xfrm>
            <a:off x="2597404" y="3175281"/>
            <a:ext cx="562680" cy="36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76" name="矩形 12"/>
          <p:cNvSpPr/>
          <p:nvPr/>
        </p:nvSpPr>
        <p:spPr>
          <a:xfrm>
            <a:off x="197290" y="4187601"/>
            <a:ext cx="11476434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7" name="直線單箭頭接點 14"/>
          <p:cNvCxnSpPr>
            <a:cxnSpLocks/>
          </p:cNvCxnSpPr>
          <p:nvPr/>
        </p:nvCxnSpPr>
        <p:spPr>
          <a:xfrm flipV="1">
            <a:off x="7473644" y="2460303"/>
            <a:ext cx="0" cy="285835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78" name="直線單箭頭接點 15"/>
          <p:cNvCxnSpPr>
            <a:cxnSpLocks/>
          </p:cNvCxnSpPr>
          <p:nvPr/>
        </p:nvCxnSpPr>
        <p:spPr>
          <a:xfrm flipV="1">
            <a:off x="8954875" y="2460303"/>
            <a:ext cx="0" cy="282258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79" name="箭號: 向下 18"/>
          <p:cNvSpPr/>
          <p:nvPr/>
        </p:nvSpPr>
        <p:spPr>
          <a:xfrm>
            <a:off x="3720964" y="3660561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1" name="箭號: 向下 20"/>
          <p:cNvSpPr/>
          <p:nvPr/>
        </p:nvSpPr>
        <p:spPr>
          <a:xfrm rot="10800000">
            <a:off x="6108069" y="4510558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2" name="箭號: 向下 21"/>
          <p:cNvSpPr/>
          <p:nvPr/>
        </p:nvSpPr>
        <p:spPr>
          <a:xfrm>
            <a:off x="8801411" y="3660561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 dirty="0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3" name="文字方塊 22"/>
          <p:cNvSpPr/>
          <p:nvPr/>
        </p:nvSpPr>
        <p:spPr>
          <a:xfrm>
            <a:off x="6781336" y="1557981"/>
            <a:ext cx="137304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On-Board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LED /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RGB LED /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Button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矩形: 圓角 23"/>
          <p:cNvSpPr/>
          <p:nvPr/>
        </p:nvSpPr>
        <p:spPr>
          <a:xfrm>
            <a:off x="928804" y="504491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箭號: 向下 24"/>
          <p:cNvSpPr/>
          <p:nvPr/>
        </p:nvSpPr>
        <p:spPr>
          <a:xfrm rot="10800000">
            <a:off x="1409044" y="4485563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6" name="文字方塊 27"/>
          <p:cNvSpPr/>
          <p:nvPr/>
        </p:nvSpPr>
        <p:spPr>
          <a:xfrm>
            <a:off x="238324" y="3023721"/>
            <a:ext cx="6472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JTAG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直線單箭頭接點 32"/>
          <p:cNvCxnSpPr/>
          <p:nvPr/>
        </p:nvCxnSpPr>
        <p:spPr>
          <a:xfrm flipV="1">
            <a:off x="885604" y="3088161"/>
            <a:ext cx="648720" cy="828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88" name="直線單箭頭接點 33"/>
          <p:cNvCxnSpPr/>
          <p:nvPr/>
        </p:nvCxnSpPr>
        <p:spPr>
          <a:xfrm flipH="1">
            <a:off x="885604" y="3303801"/>
            <a:ext cx="648720" cy="72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89" name="矩形: 圓角 40"/>
          <p:cNvSpPr/>
          <p:nvPr/>
        </p:nvSpPr>
        <p:spPr>
          <a:xfrm>
            <a:off x="3159724" y="162224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Local Memory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Bus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直線單箭頭接點 43"/>
          <p:cNvCxnSpPr>
            <a:stCxn id="89" idx="2"/>
            <a:endCxn id="70" idx="0"/>
          </p:cNvCxnSpPr>
          <p:nvPr/>
        </p:nvCxnSpPr>
        <p:spPr>
          <a:xfrm>
            <a:off x="3918964" y="2437281"/>
            <a:ext cx="360" cy="3308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1" name="矩形: 圓角 44"/>
          <p:cNvSpPr/>
          <p:nvPr/>
        </p:nvSpPr>
        <p:spPr>
          <a:xfrm>
            <a:off x="1318684" y="162332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Data Mem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128KB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矩形: 圓角 45"/>
          <p:cNvSpPr/>
          <p:nvPr/>
        </p:nvSpPr>
        <p:spPr>
          <a:xfrm>
            <a:off x="5013724" y="162224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Inst MEM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64KB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直線單箭頭接點 48"/>
          <p:cNvCxnSpPr>
            <a:stCxn id="92" idx="1"/>
            <a:endCxn id="89" idx="3"/>
          </p:cNvCxnSpPr>
          <p:nvPr/>
        </p:nvCxnSpPr>
        <p:spPr>
          <a:xfrm flipH="1">
            <a:off x="4678564" y="2029761"/>
            <a:ext cx="335520" cy="36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cxnSp>
        <p:nvCxnSpPr>
          <p:cNvPr id="94" name="直線單箭頭接點 51"/>
          <p:cNvCxnSpPr>
            <a:stCxn id="91" idx="3"/>
            <a:endCxn id="89" idx="1"/>
          </p:cNvCxnSpPr>
          <p:nvPr/>
        </p:nvCxnSpPr>
        <p:spPr>
          <a:xfrm flipV="1">
            <a:off x="2837524" y="2029761"/>
            <a:ext cx="322560" cy="14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2" name="文字方塊 22">
            <a:extLst>
              <a:ext uri="{FF2B5EF4-FFF2-40B4-BE49-F238E27FC236}">
                <a16:creationId xmlns:a16="http://schemas.microsoft.com/office/drawing/2014/main" id="{8EED83EF-6786-DE62-0C19-C4A9B1A310D8}"/>
              </a:ext>
            </a:extLst>
          </p:cNvPr>
          <p:cNvSpPr/>
          <p:nvPr/>
        </p:nvSpPr>
        <p:spPr>
          <a:xfrm>
            <a:off x="7789374" y="1557633"/>
            <a:ext cx="2331002" cy="11680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GPIO</a:t>
            </a:r>
            <a:r>
              <a:rPr lang="zh-TW" altLang="en-US" sz="1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pin*28</a:t>
            </a:r>
          </a:p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GPIO_A0 ~ GPIO_A6</a:t>
            </a:r>
          </a:p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……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  <a:latin typeface="Arial"/>
              </a:rPr>
              <a:t>GPIO_D0 ~ GPIO_D6</a:t>
            </a:r>
            <a:endParaRPr lang="en-US" altLang="zh-TW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" name="直線單箭頭接點 15">
            <a:extLst>
              <a:ext uri="{FF2B5EF4-FFF2-40B4-BE49-F238E27FC236}">
                <a16:creationId xmlns:a16="http://schemas.microsoft.com/office/drawing/2014/main" id="{1F863F21-A549-5CC8-C6E3-B8EEF562750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0599357" y="2510286"/>
            <a:ext cx="0" cy="23180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4" name="文字方塊 22">
            <a:extLst>
              <a:ext uri="{FF2B5EF4-FFF2-40B4-BE49-F238E27FC236}">
                <a16:creationId xmlns:a16="http://schemas.microsoft.com/office/drawing/2014/main" id="{2DCA4971-A687-BDBC-714D-41F50C1A1FFE}"/>
              </a:ext>
            </a:extLst>
          </p:cNvPr>
          <p:cNvSpPr/>
          <p:nvPr/>
        </p:nvSpPr>
        <p:spPr>
          <a:xfrm>
            <a:off x="9912837" y="1557633"/>
            <a:ext cx="137304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  <a:latin typeface="Arial"/>
              </a:rPr>
              <a:t>Interrupt pin*4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INTR_0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……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INTR_3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矩形: 圓角 23">
            <a:extLst>
              <a:ext uri="{FF2B5EF4-FFF2-40B4-BE49-F238E27FC236}">
                <a16:creationId xmlns:a16="http://schemas.microsoft.com/office/drawing/2014/main" id="{93CC8D8F-68C5-1A36-8589-386F1907AD55}"/>
              </a:ext>
            </a:extLst>
          </p:cNvPr>
          <p:cNvSpPr/>
          <p:nvPr/>
        </p:nvSpPr>
        <p:spPr>
          <a:xfrm>
            <a:off x="1117646" y="513835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文字方塊 22">
            <a:extLst>
              <a:ext uri="{FF2B5EF4-FFF2-40B4-BE49-F238E27FC236}">
                <a16:creationId xmlns:a16="http://schemas.microsoft.com/office/drawing/2014/main" id="{2537A16C-E944-9B15-E5C2-A2C914754857}"/>
              </a:ext>
            </a:extLst>
          </p:cNvPr>
          <p:cNvSpPr/>
          <p:nvPr/>
        </p:nvSpPr>
        <p:spPr>
          <a:xfrm>
            <a:off x="-261710" y="6522187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spc="-1" dirty="0">
                <a:solidFill>
                  <a:srgbClr val="000000"/>
                </a:solidFill>
              </a:rPr>
              <a:t>USB-UART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/ UART_R</a:t>
            </a:r>
            <a:r>
              <a:rPr lang="en-US" sz="1400" spc="-1" dirty="0">
                <a:solidFill>
                  <a:srgbClr val="000000"/>
                </a:solidFill>
                <a:latin typeface="Arial"/>
              </a:rPr>
              <a:t>X / UART_TX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" name="直線單箭頭接點 14">
            <a:extLst>
              <a:ext uri="{FF2B5EF4-FFF2-40B4-BE49-F238E27FC236}">
                <a16:creationId xmlns:a16="http://schemas.microsoft.com/office/drawing/2014/main" id="{05C3C905-9D9F-9A22-5D93-4D07EB1BF6B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1722446" y="6183437"/>
            <a:ext cx="0" cy="33875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0E1BC371-B57C-D3F5-E397-E842BC7D0980}"/>
              </a:ext>
            </a:extLst>
          </p:cNvPr>
          <p:cNvSpPr/>
          <p:nvPr/>
        </p:nvSpPr>
        <p:spPr>
          <a:xfrm>
            <a:off x="2522163" y="5096263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</a:rPr>
              <a:t>EMC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箭號: 向下 24">
            <a:extLst>
              <a:ext uri="{FF2B5EF4-FFF2-40B4-BE49-F238E27FC236}">
                <a16:creationId xmlns:a16="http://schemas.microsoft.com/office/drawing/2014/main" id="{1571C252-84DC-AE1D-F6AC-165974568586}"/>
              </a:ext>
            </a:extLst>
          </p:cNvPr>
          <p:cNvSpPr/>
          <p:nvPr/>
        </p:nvSpPr>
        <p:spPr>
          <a:xfrm rot="10800000">
            <a:off x="3002403" y="4510558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" name="矩形: 圓角 7">
            <a:extLst>
              <a:ext uri="{FF2B5EF4-FFF2-40B4-BE49-F238E27FC236}">
                <a16:creationId xmlns:a16="http://schemas.microsoft.com/office/drawing/2014/main" id="{3CD0F37B-9DA2-D176-A81E-E939E0E21476}"/>
              </a:ext>
            </a:extLst>
          </p:cNvPr>
          <p:cNvSpPr/>
          <p:nvPr/>
        </p:nvSpPr>
        <p:spPr>
          <a:xfrm>
            <a:off x="5779149" y="519899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AXI Timer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矩形: 圓角 23">
            <a:extLst>
              <a:ext uri="{FF2B5EF4-FFF2-40B4-BE49-F238E27FC236}">
                <a16:creationId xmlns:a16="http://schemas.microsoft.com/office/drawing/2014/main" id="{E96307AD-B419-E9A2-D850-7104ADA12FBB}"/>
              </a:ext>
            </a:extLst>
          </p:cNvPr>
          <p:cNvSpPr/>
          <p:nvPr/>
        </p:nvSpPr>
        <p:spPr>
          <a:xfrm>
            <a:off x="4039163" y="5096263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SRAM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512KB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" name="直線單箭頭接點 48">
            <a:extLst>
              <a:ext uri="{FF2B5EF4-FFF2-40B4-BE49-F238E27FC236}">
                <a16:creationId xmlns:a16="http://schemas.microsoft.com/office/drawing/2014/main" id="{AAECC454-CF63-C6AD-AF6F-8D6B3422BA87}"/>
              </a:ext>
            </a:extLst>
          </p:cNvPr>
          <p:cNvCxnSpPr>
            <a:cxnSpLocks/>
            <a:stCxn id="23" idx="1"/>
            <a:endCxn id="20" idx="3"/>
          </p:cNvCxnSpPr>
          <p:nvPr/>
        </p:nvCxnSpPr>
        <p:spPr>
          <a:xfrm flipH="1">
            <a:off x="3731763" y="5618803"/>
            <a:ext cx="307400" cy="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36" name="矩形: 圓角 7">
            <a:extLst>
              <a:ext uri="{FF2B5EF4-FFF2-40B4-BE49-F238E27FC236}">
                <a16:creationId xmlns:a16="http://schemas.microsoft.com/office/drawing/2014/main" id="{AD1C6C7A-1D74-BC78-85FF-55DDBC96EF90}"/>
              </a:ext>
            </a:extLst>
          </p:cNvPr>
          <p:cNvSpPr/>
          <p:nvPr/>
        </p:nvSpPr>
        <p:spPr>
          <a:xfrm>
            <a:off x="5931549" y="535139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6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1" name="直線單箭頭接點 14">
            <a:extLst>
              <a:ext uri="{FF2B5EF4-FFF2-40B4-BE49-F238E27FC236}">
                <a16:creationId xmlns:a16="http://schemas.microsoft.com/office/drawing/2014/main" id="{97F12786-E992-176A-A299-FCE60215DAF4}"/>
              </a:ext>
            </a:extLst>
          </p:cNvPr>
          <p:cNvCxnSpPr>
            <a:cxnSpLocks/>
          </p:cNvCxnSpPr>
          <p:nvPr/>
        </p:nvCxnSpPr>
        <p:spPr>
          <a:xfrm>
            <a:off x="6490756" y="6396478"/>
            <a:ext cx="0" cy="170277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63" name="文字方塊 22">
            <a:extLst>
              <a:ext uri="{FF2B5EF4-FFF2-40B4-BE49-F238E27FC236}">
                <a16:creationId xmlns:a16="http://schemas.microsoft.com/office/drawing/2014/main" id="{9F64AD77-728F-8091-ED23-3F0BE579DCF1}"/>
              </a:ext>
            </a:extLst>
          </p:cNvPr>
          <p:cNvSpPr/>
          <p:nvPr/>
        </p:nvSpPr>
        <p:spPr>
          <a:xfrm>
            <a:off x="4510109" y="6551677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PWM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_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0 ~ PWM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_2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箭號: 向下 20">
            <a:extLst>
              <a:ext uri="{FF2B5EF4-FFF2-40B4-BE49-F238E27FC236}">
                <a16:creationId xmlns:a16="http://schemas.microsoft.com/office/drawing/2014/main" id="{CAB304BD-ACCA-8743-CCCC-1FCDAFA90F3C}"/>
              </a:ext>
            </a:extLst>
          </p:cNvPr>
          <p:cNvSpPr/>
          <p:nvPr/>
        </p:nvSpPr>
        <p:spPr>
          <a:xfrm rot="10800000">
            <a:off x="7820135" y="4505855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5" name="矩形: 圓角 23">
            <a:extLst>
              <a:ext uri="{FF2B5EF4-FFF2-40B4-BE49-F238E27FC236}">
                <a16:creationId xmlns:a16="http://schemas.microsoft.com/office/drawing/2014/main" id="{84D86F3F-5693-67BE-3F09-3BFE184E8E2F}"/>
              </a:ext>
            </a:extLst>
          </p:cNvPr>
          <p:cNvSpPr/>
          <p:nvPr/>
        </p:nvSpPr>
        <p:spPr>
          <a:xfrm>
            <a:off x="7366735" y="509756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Quad-SPI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矩形: 圓角 23">
            <a:extLst>
              <a:ext uri="{FF2B5EF4-FFF2-40B4-BE49-F238E27FC236}">
                <a16:creationId xmlns:a16="http://schemas.microsoft.com/office/drawing/2014/main" id="{631FA26B-FA41-A9C7-3023-64348F6D51EF}"/>
              </a:ext>
            </a:extLst>
          </p:cNvPr>
          <p:cNvSpPr/>
          <p:nvPr/>
        </p:nvSpPr>
        <p:spPr>
          <a:xfrm>
            <a:off x="8856407" y="509756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Flash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4MB</a:t>
            </a:r>
          </a:p>
        </p:txBody>
      </p:sp>
      <p:cxnSp>
        <p:nvCxnSpPr>
          <p:cNvPr id="67" name="直線單箭頭接點 48">
            <a:extLst>
              <a:ext uri="{FF2B5EF4-FFF2-40B4-BE49-F238E27FC236}">
                <a16:creationId xmlns:a16="http://schemas.microsoft.com/office/drawing/2014/main" id="{70D58A8C-FC41-A1E5-288E-2675A1821F65}"/>
              </a:ext>
            </a:extLst>
          </p:cNvPr>
          <p:cNvCxnSpPr>
            <a:cxnSpLocks/>
            <a:stCxn id="66" idx="1"/>
            <a:endCxn id="65" idx="3"/>
          </p:cNvCxnSpPr>
          <p:nvPr/>
        </p:nvCxnSpPr>
        <p:spPr>
          <a:xfrm flipH="1">
            <a:off x="8576335" y="5620100"/>
            <a:ext cx="280072" cy="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7" name="矩形: 圓角 23">
            <a:extLst>
              <a:ext uri="{FF2B5EF4-FFF2-40B4-BE49-F238E27FC236}">
                <a16:creationId xmlns:a16="http://schemas.microsoft.com/office/drawing/2014/main" id="{AEC72BD8-9FAC-F5CF-41EC-7310309AE2B4}"/>
              </a:ext>
            </a:extLst>
          </p:cNvPr>
          <p:cNvSpPr/>
          <p:nvPr/>
        </p:nvSpPr>
        <p:spPr>
          <a:xfrm>
            <a:off x="10461374" y="509626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AFA9E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XADC</a:t>
            </a:r>
            <a:endParaRPr lang="en-US" sz="14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98" name="箭號: 向下 24">
            <a:extLst>
              <a:ext uri="{FF2B5EF4-FFF2-40B4-BE49-F238E27FC236}">
                <a16:creationId xmlns:a16="http://schemas.microsoft.com/office/drawing/2014/main" id="{14AC65FC-3D02-7228-ABD3-81C9634C06CA}"/>
              </a:ext>
            </a:extLst>
          </p:cNvPr>
          <p:cNvSpPr/>
          <p:nvPr/>
        </p:nvSpPr>
        <p:spPr>
          <a:xfrm rot="10800000">
            <a:off x="10941614" y="4510558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cxnSp>
        <p:nvCxnSpPr>
          <p:cNvPr id="99" name="直線單箭頭接點 14">
            <a:extLst>
              <a:ext uri="{FF2B5EF4-FFF2-40B4-BE49-F238E27FC236}">
                <a16:creationId xmlns:a16="http://schemas.microsoft.com/office/drawing/2014/main" id="{3208B2BB-4CEF-C9E8-9A01-2C47D408A4A3}"/>
              </a:ext>
            </a:extLst>
          </p:cNvPr>
          <p:cNvCxnSpPr>
            <a:cxnSpLocks/>
            <a:stCxn id="97" idx="2"/>
            <a:endCxn id="100" idx="0"/>
          </p:cNvCxnSpPr>
          <p:nvPr/>
        </p:nvCxnSpPr>
        <p:spPr>
          <a:xfrm>
            <a:off x="11066174" y="6141343"/>
            <a:ext cx="0" cy="380843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100" name="文字方塊 22">
            <a:extLst>
              <a:ext uri="{FF2B5EF4-FFF2-40B4-BE49-F238E27FC236}">
                <a16:creationId xmlns:a16="http://schemas.microsoft.com/office/drawing/2014/main" id="{E3FC18B7-03B7-E5E0-0495-E3C4E803DDB4}"/>
              </a:ext>
            </a:extLst>
          </p:cNvPr>
          <p:cNvSpPr/>
          <p:nvPr/>
        </p:nvSpPr>
        <p:spPr>
          <a:xfrm>
            <a:off x="9082018" y="6522186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ADC_0 / ADC_1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C8462-C43F-E9EA-D127-4C195C2A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9DBA6B44-6775-867E-1F31-A1EEDDA55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GPIO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313F560E-E749-52CC-8F64-F7B1BF99A4CA}"/>
              </a:ext>
            </a:extLst>
          </p:cNvPr>
          <p:cNvSpPr/>
          <p:nvPr/>
        </p:nvSpPr>
        <p:spPr>
          <a:xfrm rot="16200000">
            <a:off x="-1109822" y="3944808"/>
            <a:ext cx="5255491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矩形: 圓角 6">
            <a:extLst>
              <a:ext uri="{FF2B5EF4-FFF2-40B4-BE49-F238E27FC236}">
                <a16:creationId xmlns:a16="http://schemas.microsoft.com/office/drawing/2014/main" id="{FDB0D2F4-683D-9B37-37CD-CE9776DEBD5D}"/>
              </a:ext>
            </a:extLst>
          </p:cNvPr>
          <p:cNvSpPr/>
          <p:nvPr/>
        </p:nvSpPr>
        <p:spPr>
          <a:xfrm>
            <a:off x="2374208" y="2273575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pio_B_0_6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6">
            <a:extLst>
              <a:ext uri="{FF2B5EF4-FFF2-40B4-BE49-F238E27FC236}">
                <a16:creationId xmlns:a16="http://schemas.microsoft.com/office/drawing/2014/main" id="{7D86F638-53B7-FBB7-BB70-1AE014CB954C}"/>
              </a:ext>
            </a:extLst>
          </p:cNvPr>
          <p:cNvSpPr/>
          <p:nvPr/>
        </p:nvSpPr>
        <p:spPr>
          <a:xfrm>
            <a:off x="2374208" y="1622574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pio_A_0_6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68B26E7-769B-193F-2BB0-683B416D7B7C}"/>
              </a:ext>
            </a:extLst>
          </p:cNvPr>
          <p:cNvSpPr/>
          <p:nvPr/>
        </p:nvSpPr>
        <p:spPr>
          <a:xfrm>
            <a:off x="2374208" y="2924576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pio_C_0_6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矩形: 圓角 6">
            <a:extLst>
              <a:ext uri="{FF2B5EF4-FFF2-40B4-BE49-F238E27FC236}">
                <a16:creationId xmlns:a16="http://schemas.microsoft.com/office/drawing/2014/main" id="{2EFB9D37-D71B-A6A0-5A1C-BE4476A3DC4D}"/>
              </a:ext>
            </a:extLst>
          </p:cNvPr>
          <p:cNvSpPr/>
          <p:nvPr/>
        </p:nvSpPr>
        <p:spPr>
          <a:xfrm>
            <a:off x="2374207" y="6179581"/>
            <a:ext cx="1565587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INT_0_3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矩形: 圓角 6">
            <a:extLst>
              <a:ext uri="{FF2B5EF4-FFF2-40B4-BE49-F238E27FC236}">
                <a16:creationId xmlns:a16="http://schemas.microsoft.com/office/drawing/2014/main" id="{3E4FB514-0861-C5E6-A815-094CAB3AE3B8}"/>
              </a:ext>
            </a:extLst>
          </p:cNvPr>
          <p:cNvSpPr/>
          <p:nvPr/>
        </p:nvSpPr>
        <p:spPr>
          <a:xfrm>
            <a:off x="2374207" y="5528580"/>
            <a:ext cx="1565587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chemeClr val="dk1"/>
                </a:solidFill>
                <a:latin typeface="Arial"/>
                <a:ea typeface="Arial"/>
              </a:rPr>
              <a:t>board_button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矩形: 圓角 6">
            <a:extLst>
              <a:ext uri="{FF2B5EF4-FFF2-40B4-BE49-F238E27FC236}">
                <a16:creationId xmlns:a16="http://schemas.microsoft.com/office/drawing/2014/main" id="{A4B7AEA9-036B-F357-551B-DF8F92650373}"/>
              </a:ext>
            </a:extLst>
          </p:cNvPr>
          <p:cNvSpPr/>
          <p:nvPr/>
        </p:nvSpPr>
        <p:spPr>
          <a:xfrm>
            <a:off x="2374208" y="4877579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 err="1">
                <a:solidFill>
                  <a:srgbClr val="000000"/>
                </a:solidFill>
                <a:latin typeface="Arial"/>
              </a:rPr>
              <a:t>b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oard_rgb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矩形: 圓角 6">
            <a:extLst>
              <a:ext uri="{FF2B5EF4-FFF2-40B4-BE49-F238E27FC236}">
                <a16:creationId xmlns:a16="http://schemas.microsoft.com/office/drawing/2014/main" id="{16A8153A-02EA-E048-23EE-6850B081E8B2}"/>
              </a:ext>
            </a:extLst>
          </p:cNvPr>
          <p:cNvSpPr/>
          <p:nvPr/>
        </p:nvSpPr>
        <p:spPr>
          <a:xfrm>
            <a:off x="2374207" y="4226578"/>
            <a:ext cx="1565590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b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oard_led_2bits</a:t>
            </a:r>
          </a:p>
        </p:txBody>
      </p:sp>
      <p:sp>
        <p:nvSpPr>
          <p:cNvPr id="12" name="矩形: 圓角 6">
            <a:extLst>
              <a:ext uri="{FF2B5EF4-FFF2-40B4-BE49-F238E27FC236}">
                <a16:creationId xmlns:a16="http://schemas.microsoft.com/office/drawing/2014/main" id="{9ABD357E-7620-7280-3F1F-C6980EDCFDCC}"/>
              </a:ext>
            </a:extLst>
          </p:cNvPr>
          <p:cNvSpPr/>
          <p:nvPr/>
        </p:nvSpPr>
        <p:spPr>
          <a:xfrm>
            <a:off x="2374207" y="3575577"/>
            <a:ext cx="1565589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pio_D_0_6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左-右雙向 12">
            <a:extLst>
              <a:ext uri="{FF2B5EF4-FFF2-40B4-BE49-F238E27FC236}">
                <a16:creationId xmlns:a16="http://schemas.microsoft.com/office/drawing/2014/main" id="{05D0F98D-04FF-23DD-7CF3-4073491E6E20}"/>
              </a:ext>
            </a:extLst>
          </p:cNvPr>
          <p:cNvSpPr/>
          <p:nvPr/>
        </p:nvSpPr>
        <p:spPr>
          <a:xfrm>
            <a:off x="1688835" y="3859784"/>
            <a:ext cx="641900" cy="424927"/>
          </a:xfrm>
          <a:prstGeom prst="left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C6962E10-D259-93A7-C51A-C7E0CBAB5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767" y="213893"/>
            <a:ext cx="7152232" cy="246977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1147095D-9A2E-5B32-DB24-968674E8A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767" y="2789036"/>
            <a:ext cx="7152233" cy="2739544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F4F78927-784B-8083-C9FE-52096C18D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764" y="4997051"/>
            <a:ext cx="7143551" cy="183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67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962C5-35FB-4D9A-B910-67CDA9F8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65A7F29A-BED8-ADEF-1DC5-B113ECF2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Interrupt</a:t>
            </a:r>
            <a:r>
              <a:rPr lang="zh-TW" alt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System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F4784BC0-8636-768D-15C1-BB566F7930FC}"/>
              </a:ext>
            </a:extLst>
          </p:cNvPr>
          <p:cNvSpPr/>
          <p:nvPr/>
        </p:nvSpPr>
        <p:spPr>
          <a:xfrm rot="16200000">
            <a:off x="-1482979" y="4079962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矩形: 圓角 7">
            <a:extLst>
              <a:ext uri="{FF2B5EF4-FFF2-40B4-BE49-F238E27FC236}">
                <a16:creationId xmlns:a16="http://schemas.microsoft.com/office/drawing/2014/main" id="{A071B250-DC67-5C0F-A3A6-5D493E72E98A}"/>
              </a:ext>
            </a:extLst>
          </p:cNvPr>
          <p:cNvSpPr/>
          <p:nvPr/>
        </p:nvSpPr>
        <p:spPr>
          <a:xfrm>
            <a:off x="5791200" y="211628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矩形: 圓角 7">
            <a:extLst>
              <a:ext uri="{FF2B5EF4-FFF2-40B4-BE49-F238E27FC236}">
                <a16:creationId xmlns:a16="http://schemas.microsoft.com/office/drawing/2014/main" id="{B3DB2511-DD16-5E19-93C9-4ADFC212D75F}"/>
              </a:ext>
            </a:extLst>
          </p:cNvPr>
          <p:cNvSpPr/>
          <p:nvPr/>
        </p:nvSpPr>
        <p:spPr>
          <a:xfrm>
            <a:off x="2106330" y="4645529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RISC-V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Core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矩形: 圓角 7">
            <a:extLst>
              <a:ext uri="{FF2B5EF4-FFF2-40B4-BE49-F238E27FC236}">
                <a16:creationId xmlns:a16="http://schemas.microsoft.com/office/drawing/2014/main" id="{A15549A6-1837-4E78-1A3E-B7357020950C}"/>
              </a:ext>
            </a:extLst>
          </p:cNvPr>
          <p:cNvSpPr/>
          <p:nvPr/>
        </p:nvSpPr>
        <p:spPr>
          <a:xfrm>
            <a:off x="2106330" y="303201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/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Interrupt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Controller</a:t>
            </a:r>
          </a:p>
        </p:txBody>
      </p:sp>
      <p:sp>
        <p:nvSpPr>
          <p:cNvPr id="5" name="矩形: 圓角 7">
            <a:extLst>
              <a:ext uri="{FF2B5EF4-FFF2-40B4-BE49-F238E27FC236}">
                <a16:creationId xmlns:a16="http://schemas.microsoft.com/office/drawing/2014/main" id="{729A4D76-64B5-B230-AF12-9F23C1164B95}"/>
              </a:ext>
            </a:extLst>
          </p:cNvPr>
          <p:cNvSpPr/>
          <p:nvPr/>
        </p:nvSpPr>
        <p:spPr>
          <a:xfrm>
            <a:off x="3849345" y="3032017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Concat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7">
            <a:extLst>
              <a:ext uri="{FF2B5EF4-FFF2-40B4-BE49-F238E27FC236}">
                <a16:creationId xmlns:a16="http://schemas.microsoft.com/office/drawing/2014/main" id="{A20D8E79-5A1C-46C5-12E4-D1078D4AF899}"/>
              </a:ext>
            </a:extLst>
          </p:cNvPr>
          <p:cNvSpPr/>
          <p:nvPr/>
        </p:nvSpPr>
        <p:spPr>
          <a:xfrm>
            <a:off x="5943600" y="226868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7">
            <a:extLst>
              <a:ext uri="{FF2B5EF4-FFF2-40B4-BE49-F238E27FC236}">
                <a16:creationId xmlns:a16="http://schemas.microsoft.com/office/drawing/2014/main" id="{27EA8936-13A4-647E-AF3B-E317B7AE4F8A}"/>
              </a:ext>
            </a:extLst>
          </p:cNvPr>
          <p:cNvSpPr/>
          <p:nvPr/>
        </p:nvSpPr>
        <p:spPr>
          <a:xfrm>
            <a:off x="6096000" y="242108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矩形: 圓角 7">
            <a:extLst>
              <a:ext uri="{FF2B5EF4-FFF2-40B4-BE49-F238E27FC236}">
                <a16:creationId xmlns:a16="http://schemas.microsoft.com/office/drawing/2014/main" id="{A76D9882-91B0-790B-02C1-BA456663A952}"/>
              </a:ext>
            </a:extLst>
          </p:cNvPr>
          <p:cNvSpPr/>
          <p:nvPr/>
        </p:nvSpPr>
        <p:spPr>
          <a:xfrm>
            <a:off x="5791200" y="3797805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</a:t>
            </a: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GPIO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w intr 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矩形: 圓角 7">
            <a:extLst>
              <a:ext uri="{FF2B5EF4-FFF2-40B4-BE49-F238E27FC236}">
                <a16:creationId xmlns:a16="http://schemas.microsoft.com/office/drawing/2014/main" id="{4CE44F2F-71D2-B5F1-3EDF-258F174256DB}"/>
              </a:ext>
            </a:extLst>
          </p:cNvPr>
          <p:cNvSpPr/>
          <p:nvPr/>
        </p:nvSpPr>
        <p:spPr>
          <a:xfrm>
            <a:off x="5943600" y="3950205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</a:t>
            </a: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GPIO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w intr 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矩形: 圓角 7">
            <a:extLst>
              <a:ext uri="{FF2B5EF4-FFF2-40B4-BE49-F238E27FC236}">
                <a16:creationId xmlns:a16="http://schemas.microsoft.com/office/drawing/2014/main" id="{835FBAC2-DBC4-6414-C068-85B2BE6A0C82}"/>
              </a:ext>
            </a:extLst>
          </p:cNvPr>
          <p:cNvSpPr/>
          <p:nvPr/>
        </p:nvSpPr>
        <p:spPr>
          <a:xfrm>
            <a:off x="6096000" y="4102605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</a:t>
            </a: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GPIO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w intr 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上-下雙向 12">
            <a:extLst>
              <a:ext uri="{FF2B5EF4-FFF2-40B4-BE49-F238E27FC236}">
                <a16:creationId xmlns:a16="http://schemas.microsoft.com/office/drawing/2014/main" id="{891DF948-B01D-13DB-05BE-01081BCD4588}"/>
              </a:ext>
            </a:extLst>
          </p:cNvPr>
          <p:cNvSpPr/>
          <p:nvPr/>
        </p:nvSpPr>
        <p:spPr>
          <a:xfrm rot="16200000">
            <a:off x="1252800" y="3123531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箭號: 上-下雙向 13">
            <a:extLst>
              <a:ext uri="{FF2B5EF4-FFF2-40B4-BE49-F238E27FC236}">
                <a16:creationId xmlns:a16="http://schemas.microsoft.com/office/drawing/2014/main" id="{F0671ADE-A805-4C9D-D176-0013C85F12C8}"/>
              </a:ext>
            </a:extLst>
          </p:cNvPr>
          <p:cNvSpPr/>
          <p:nvPr/>
        </p:nvSpPr>
        <p:spPr>
          <a:xfrm rot="16200000">
            <a:off x="1252801" y="4716659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4A15068-2A97-DE1A-F162-6E3BF323A50C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5058945" y="2638823"/>
            <a:ext cx="732255" cy="915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92EC857-CB88-460D-40BD-26ACB03BA2F2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5058945" y="2638823"/>
            <a:ext cx="732255" cy="9157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3BE96FE8-B65D-C45F-B1F5-71AD93531204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 flipV="1">
            <a:off x="5058945" y="3554557"/>
            <a:ext cx="732255" cy="7657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14A89BC4-1087-0A04-93A2-7077533F69D2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3315930" y="3554557"/>
            <a:ext cx="5334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F4C9E6B9-BFD0-A0C5-8454-B72FF3EDAB90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2711130" y="4077097"/>
            <a:ext cx="0" cy="568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2C9269D-3EFB-5F6C-1BEA-AD339E589489}"/>
              </a:ext>
            </a:extLst>
          </p:cNvPr>
          <p:cNvSpPr txBox="1"/>
          <p:nvPr/>
        </p:nvSpPr>
        <p:spPr>
          <a:xfrm>
            <a:off x="2772084" y="417664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irq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800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CECB-41EC-6E98-3333-33569C1AD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03AFB70B-EDCA-913A-326C-8E9129EB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Memory Hierarchy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E94B38B7-078E-A53E-4500-8D8575A171F2}"/>
              </a:ext>
            </a:extLst>
          </p:cNvPr>
          <p:cNvSpPr/>
          <p:nvPr/>
        </p:nvSpPr>
        <p:spPr>
          <a:xfrm rot="16200000">
            <a:off x="-1482979" y="4079962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矩形: 圓角 7">
            <a:extLst>
              <a:ext uri="{FF2B5EF4-FFF2-40B4-BE49-F238E27FC236}">
                <a16:creationId xmlns:a16="http://schemas.microsoft.com/office/drawing/2014/main" id="{1B3E5CFF-6A0C-51F8-9EF9-D94C5306BE0B}"/>
              </a:ext>
            </a:extLst>
          </p:cNvPr>
          <p:cNvSpPr/>
          <p:nvPr/>
        </p:nvSpPr>
        <p:spPr>
          <a:xfrm>
            <a:off x="5791200" y="213666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矩形: 圓角 7">
            <a:extLst>
              <a:ext uri="{FF2B5EF4-FFF2-40B4-BE49-F238E27FC236}">
                <a16:creationId xmlns:a16="http://schemas.microsoft.com/office/drawing/2014/main" id="{58ABF13A-CCD2-D424-D3C6-D8EB28F21782}"/>
              </a:ext>
            </a:extLst>
          </p:cNvPr>
          <p:cNvSpPr/>
          <p:nvPr/>
        </p:nvSpPr>
        <p:spPr>
          <a:xfrm>
            <a:off x="2106330" y="4645529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RISC-V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Core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矩形: 圓角 7">
            <a:extLst>
              <a:ext uri="{FF2B5EF4-FFF2-40B4-BE49-F238E27FC236}">
                <a16:creationId xmlns:a16="http://schemas.microsoft.com/office/drawing/2014/main" id="{DC49C466-9B15-BD2E-A60B-AEF68B7A6735}"/>
              </a:ext>
            </a:extLst>
          </p:cNvPr>
          <p:cNvSpPr/>
          <p:nvPr/>
        </p:nvSpPr>
        <p:spPr>
          <a:xfrm>
            <a:off x="2106330" y="303201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/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Interrupt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Controller</a:t>
            </a:r>
          </a:p>
        </p:txBody>
      </p:sp>
      <p:sp>
        <p:nvSpPr>
          <p:cNvPr id="5" name="矩形: 圓角 7">
            <a:extLst>
              <a:ext uri="{FF2B5EF4-FFF2-40B4-BE49-F238E27FC236}">
                <a16:creationId xmlns:a16="http://schemas.microsoft.com/office/drawing/2014/main" id="{93C6A273-8627-1E4D-2293-EF6BA6132E76}"/>
              </a:ext>
            </a:extLst>
          </p:cNvPr>
          <p:cNvSpPr/>
          <p:nvPr/>
        </p:nvSpPr>
        <p:spPr>
          <a:xfrm>
            <a:off x="3849345" y="3052401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Concat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7">
            <a:extLst>
              <a:ext uri="{FF2B5EF4-FFF2-40B4-BE49-F238E27FC236}">
                <a16:creationId xmlns:a16="http://schemas.microsoft.com/office/drawing/2014/main" id="{1E73104D-EEF2-26D4-2B6C-D55956201067}"/>
              </a:ext>
            </a:extLst>
          </p:cNvPr>
          <p:cNvSpPr/>
          <p:nvPr/>
        </p:nvSpPr>
        <p:spPr>
          <a:xfrm>
            <a:off x="5943600" y="228906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7">
            <a:extLst>
              <a:ext uri="{FF2B5EF4-FFF2-40B4-BE49-F238E27FC236}">
                <a16:creationId xmlns:a16="http://schemas.microsoft.com/office/drawing/2014/main" id="{153FC0DA-5B07-0426-F54E-004AA6D6AFF6}"/>
              </a:ext>
            </a:extLst>
          </p:cNvPr>
          <p:cNvSpPr/>
          <p:nvPr/>
        </p:nvSpPr>
        <p:spPr>
          <a:xfrm>
            <a:off x="6096000" y="244146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矩形: 圓角 7">
            <a:extLst>
              <a:ext uri="{FF2B5EF4-FFF2-40B4-BE49-F238E27FC236}">
                <a16:creationId xmlns:a16="http://schemas.microsoft.com/office/drawing/2014/main" id="{18FE6573-EA8D-F960-A986-B9066BF4F20A}"/>
              </a:ext>
            </a:extLst>
          </p:cNvPr>
          <p:cNvSpPr/>
          <p:nvPr/>
        </p:nvSpPr>
        <p:spPr>
          <a:xfrm>
            <a:off x="5791200" y="3818189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</a:t>
            </a: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GPIO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w intr 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矩形: 圓角 7">
            <a:extLst>
              <a:ext uri="{FF2B5EF4-FFF2-40B4-BE49-F238E27FC236}">
                <a16:creationId xmlns:a16="http://schemas.microsoft.com/office/drawing/2014/main" id="{5EB6055E-6116-3724-89E5-429E45C5B49E}"/>
              </a:ext>
            </a:extLst>
          </p:cNvPr>
          <p:cNvSpPr/>
          <p:nvPr/>
        </p:nvSpPr>
        <p:spPr>
          <a:xfrm>
            <a:off x="5943600" y="3970589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</a:t>
            </a: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GPIO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w intr 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矩形: 圓角 7">
            <a:extLst>
              <a:ext uri="{FF2B5EF4-FFF2-40B4-BE49-F238E27FC236}">
                <a16:creationId xmlns:a16="http://schemas.microsoft.com/office/drawing/2014/main" id="{625EDE8F-67E3-1851-45C2-D14B40A0779A}"/>
              </a:ext>
            </a:extLst>
          </p:cNvPr>
          <p:cNvSpPr/>
          <p:nvPr/>
        </p:nvSpPr>
        <p:spPr>
          <a:xfrm>
            <a:off x="6096000" y="4122989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</a:t>
            </a: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GPIO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w intr 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上-下雙向 12">
            <a:extLst>
              <a:ext uri="{FF2B5EF4-FFF2-40B4-BE49-F238E27FC236}">
                <a16:creationId xmlns:a16="http://schemas.microsoft.com/office/drawing/2014/main" id="{FCA1D84B-15CB-C04D-AD93-E9EABAA12CB3}"/>
              </a:ext>
            </a:extLst>
          </p:cNvPr>
          <p:cNvSpPr/>
          <p:nvPr/>
        </p:nvSpPr>
        <p:spPr>
          <a:xfrm rot="16200000">
            <a:off x="1252800" y="3123531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箭號: 上-下雙向 13">
            <a:extLst>
              <a:ext uri="{FF2B5EF4-FFF2-40B4-BE49-F238E27FC236}">
                <a16:creationId xmlns:a16="http://schemas.microsoft.com/office/drawing/2014/main" id="{B8A6189B-F9D6-6742-F4EB-5E71507E3C20}"/>
              </a:ext>
            </a:extLst>
          </p:cNvPr>
          <p:cNvSpPr/>
          <p:nvPr/>
        </p:nvSpPr>
        <p:spPr>
          <a:xfrm rot="16200000">
            <a:off x="1252801" y="4716659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17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Report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64D29A8-FD95-783A-AD15-F9C499BE2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"/>
          <a:stretch>
            <a:fillRect/>
          </a:stretch>
        </p:blipFill>
        <p:spPr>
          <a:xfrm>
            <a:off x="1171638" y="1466849"/>
            <a:ext cx="4003618" cy="26836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E5BD6BE-DE73-149C-1877-D7A6E9C1D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7" y="1466850"/>
            <a:ext cx="5095875" cy="16764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604B8F8-797E-2C2F-ACA8-7C68F608AF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7" y="3143250"/>
            <a:ext cx="5114925" cy="371475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C0E433F-D3EC-6B12-9EAC-B42CBADB70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38" y="4197644"/>
            <a:ext cx="4003617" cy="26603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DDDDDD"/>
                </a:solidFill>
                <a:latin typeface="Calibri"/>
                <a:ea typeface="Calibri"/>
              </a:rPr>
              <a:t>Tool Chain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800" b="0" strike="noStrike" spc="-1" dirty="0" err="1">
                <a:solidFill>
                  <a:schemeClr val="dk1"/>
                </a:solidFill>
                <a:latin typeface="Times New Roman"/>
                <a:ea typeface="Times New Roman"/>
              </a:rPr>
              <a:t>Vivado</a:t>
            </a:r>
            <a:r>
              <a:rPr lang="en-US" sz="2800" b="0" strike="noStrike" spc="-1" dirty="0">
                <a:solidFill>
                  <a:schemeClr val="dk1"/>
                </a:solidFill>
                <a:latin typeface="Times New Roman"/>
                <a:ea typeface="Times New Roman"/>
              </a:rPr>
              <a:t> for FPGA Design (RTL → Bitstream)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Times New Roman"/>
                <a:ea typeface="Times New Roman"/>
              </a:rPr>
              <a:t>Vitis for Software Development (C/C++ → ELF)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AutoShape 3"/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132" name="Picture 9" descr="Vitis Embedded (SDK)"/>
          <p:cNvPicPr/>
          <p:nvPr/>
        </p:nvPicPr>
        <p:blipFill>
          <a:blip r:embed="rId2"/>
          <a:stretch/>
        </p:blipFill>
        <p:spPr>
          <a:xfrm>
            <a:off x="6095880" y="3166200"/>
            <a:ext cx="5108040" cy="287316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11" descr="AMD Vivado Design Suite: Redefining FPGA and SoC Development - Microchip USA"/>
          <p:cNvPicPr/>
          <p:nvPr/>
        </p:nvPicPr>
        <p:blipFill>
          <a:blip r:embed="rId3"/>
          <a:stretch/>
        </p:blipFill>
        <p:spPr>
          <a:xfrm>
            <a:off x="1015920" y="3166200"/>
            <a:ext cx="4632120" cy="2873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1314</TotalTime>
  <Words>354</Words>
  <Application>Microsoft Office PowerPoint</Application>
  <PresentationFormat>寬螢幕</PresentationFormat>
  <Paragraphs>122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9</vt:i4>
      </vt:variant>
      <vt:variant>
        <vt:lpstr>投影片標題</vt:lpstr>
      </vt:variant>
      <vt:variant>
        <vt:i4>10</vt:i4>
      </vt:variant>
    </vt:vector>
  </HeadingPairs>
  <TitlesOfParts>
    <vt:vector size="24" baseType="lpstr">
      <vt:lpstr>Arial</vt:lpstr>
      <vt:lpstr>Calibri</vt:lpstr>
      <vt:lpstr>Symbol</vt:lpstr>
      <vt:lpstr>Times New Roman</vt:lpstr>
      <vt:lpstr>Wingdings</vt:lpstr>
      <vt:lpstr>ncku__</vt:lpstr>
      <vt:lpstr>ncku__</vt:lpstr>
      <vt:lpstr>ncku__</vt:lpstr>
      <vt:lpstr>ncku__</vt:lpstr>
      <vt:lpstr>ncku__</vt:lpstr>
      <vt:lpstr>ncku__</vt:lpstr>
      <vt:lpstr>ncku__</vt:lpstr>
      <vt:lpstr>ncku__</vt:lpstr>
      <vt:lpstr>ncku__</vt:lpstr>
      <vt:lpstr>PowerPoint 簡報</vt:lpstr>
      <vt:lpstr>Outline</vt:lpstr>
      <vt:lpstr>FPGA Selection and Spec</vt:lpstr>
      <vt:lpstr>FPGA Selection and Spec</vt:lpstr>
      <vt:lpstr>Overview Microcontroller</vt:lpstr>
      <vt:lpstr>GPIO</vt:lpstr>
      <vt:lpstr>Interrupt System</vt:lpstr>
      <vt:lpstr>Memory Hierarchy</vt:lpstr>
      <vt:lpstr>Report</vt:lpstr>
      <vt:lpstr>Tool Chain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Windows 使用者</dc:creator>
  <dc:description/>
  <cp:lastModifiedBy>黃偉峰 HUANG, WEI-FENG</cp:lastModifiedBy>
  <cp:revision>79</cp:revision>
  <dcterms:created xsi:type="dcterms:W3CDTF">2018-11-07T14:30:45Z</dcterms:created>
  <dcterms:modified xsi:type="dcterms:W3CDTF">2026-03-30T11:17:34Z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寬螢幕</vt:lpwstr>
  </property>
  <property fmtid="{D5CDD505-2E9C-101B-9397-08002B2CF9AE}" pid="4" name="Slides">
    <vt:i4>17</vt:i4>
  </property>
</Properties>
</file>