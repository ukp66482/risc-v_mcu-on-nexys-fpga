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58" r:id="rId5"/>
    <p:sldMasterId id="2147483660" r:id="rId6"/>
    <p:sldMasterId id="2147483662" r:id="rId7"/>
    <p:sldMasterId id="2147483664" r:id="rId8"/>
    <p:sldMasterId id="2147483668" r:id="rId9"/>
  </p:sldMasterIdLst>
  <p:notesMasterIdLst>
    <p:notesMasterId r:id="rId22"/>
  </p:notesMasterIdLst>
  <p:sldIdLst>
    <p:sldId id="256" r:id="rId10"/>
    <p:sldId id="274" r:id="rId11"/>
    <p:sldId id="278" r:id="rId12"/>
    <p:sldId id="279" r:id="rId13"/>
    <p:sldId id="257" r:id="rId14"/>
    <p:sldId id="271" r:id="rId15"/>
    <p:sldId id="273" r:id="rId16"/>
    <p:sldId id="275" r:id="rId17"/>
    <p:sldId id="263" r:id="rId18"/>
    <p:sldId id="280" r:id="rId19"/>
    <p:sldId id="281" r:id="rId20"/>
    <p:sldId id="26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751" autoAdjust="0"/>
  </p:normalViewPr>
  <p:slideViewPr>
    <p:cSldViewPr snapToGrid="0">
      <p:cViewPr varScale="1">
        <p:scale>
          <a:sx n="142" d="100"/>
          <a:sy n="142" d="100"/>
        </p:scale>
        <p:origin x="97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presProps" Target="presProps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7342CF-35FB-406E-8734-9FDFFECECBE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200" b="0" strike="noStrike" spc="-1">
                <a:solidFill>
                  <a:schemeClr val="dk1"/>
                </a:solidFill>
                <a:latin typeface="Calibri"/>
                <a:ea typeface="Calibri"/>
              </a:rPr>
              <a:t>老師，各位同學好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5BB153-1C47-43CE-8548-5E70074E0DD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14:m>
                  <m:oMath xmlns:m="http://schemas.openxmlformats.org/officeDocument/2006/math">
                    <a:fld id="{825F15A7-03F4-43D7-82C5-3E23DA2F108C}" type="mathplaceholder">
                      <a:rPr lang="en-US" altLang="zh-TW" sz="12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a:t>在這裡鍵入方程式。</a:t>
                    </a:fld>
                  </m:oMath>
                </a14:m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Choice>
        <mc:Fallback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fld id="{9856DA5A-CF52-47BD-AC49-21DC5CAD223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lstStyle/>
          <a:p>
            <a:fld id="{8213D05B-FB84-4633-9C9A-120521AE31C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8632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6"/>
          </p:nvPr>
        </p:nvSpPr>
        <p:spPr/>
        <p:txBody>
          <a:bodyPr/>
          <a:lstStyle/>
          <a:p>
            <a:fld id="{4D52DAE0-7E1F-47D1-9074-2A72228EBBE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EA6B1832-4525-49F4-BECE-BB125EA60FA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lstStyle/>
          <a:p>
            <a:fld id="{C597E3EE-548C-4723-B409-01695788DAA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lstStyle/>
          <a:p>
            <a:fld id="{3EA9670E-C16E-42E9-A125-B8BEB164725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lstStyle/>
          <a:p>
            <a:fld id="{16774CDD-D255-4571-A23A-6C752D253CB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17;p16" descr="7"/>
          <p:cNvPicPr/>
          <p:nvPr/>
        </p:nvPicPr>
        <p:blipFill>
          <a:blip r:embed="rId4"/>
          <a:stretch/>
        </p:blipFill>
        <p:spPr>
          <a:xfrm>
            <a:off x="0" y="1828800"/>
            <a:ext cx="12191400" cy="2556720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18;p16" descr="9"/>
          <p:cNvPicPr/>
          <p:nvPr/>
        </p:nvPicPr>
        <p:blipFill>
          <a:blip r:embed="rId5"/>
          <a:stretch/>
        </p:blipFill>
        <p:spPr>
          <a:xfrm>
            <a:off x="0" y="1523880"/>
            <a:ext cx="12191400" cy="8056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65560" y="6400800"/>
            <a:ext cx="385992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0" y="6400800"/>
            <a:ext cx="25394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ftr" idx="6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sldNum" idx="7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9D7E20C-AB3C-40DA-ABAE-309E590DD45F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8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ftr" idx="9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sldNum" idx="10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51F372-F396-4EE6-B42B-32E3712AEE9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1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ftr" idx="12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sldNum" idx="13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4BA9D5F-2332-4B87-B30D-F4375F4595FA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4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8668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ftr" idx="15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sldNum" idx="16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793562-07C8-4769-A52D-574B53D31BD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7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8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sldNum" idx="19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9734889-943C-42D0-93AB-AC837AF29C8C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0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ftr" idx="21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2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4DDFF8-CEFB-44E6-B41E-DA3786F44A2C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3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24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sldNum" idx="25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D17E14-7FC7-4BF2-8F95-E143412ED8FF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6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ftr" idx="30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sldNum" idx="31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BB08C5-53A2-4AAC-BA76-554DF1EE9073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2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3997080" y="2286000"/>
            <a:ext cx="5603760" cy="160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RISC-V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On Cmod-A7-35T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文字方塊 1"/>
          <p:cNvSpPr/>
          <p:nvPr/>
        </p:nvSpPr>
        <p:spPr>
          <a:xfrm>
            <a:off x="7886880" y="6263640"/>
            <a:ext cx="4121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Arial"/>
              </a:rPr>
              <a:t>Developed by Wei-Feng Huang, DICLAB, NCKU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3CB5C-B2D4-60EF-03DA-4102F52F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2D160DEC-BA85-3F13-32B9-B2BD0AAA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735929A-EEB5-117D-54CD-459EF48CEBA7}"/>
              </a:ext>
            </a:extLst>
          </p:cNvPr>
          <p:cNvSpPr txBox="1"/>
          <p:nvPr/>
        </p:nvSpPr>
        <p:spPr>
          <a:xfrm>
            <a:off x="572575" y="1468582"/>
            <a:ext cx="11213772" cy="5174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</p:spTree>
    <p:extLst>
      <p:ext uri="{BB962C8B-B14F-4D97-AF65-F5344CB8AC3E}">
        <p14:creationId xmlns:p14="http://schemas.microsoft.com/office/powerpoint/2010/main" val="11766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DDFAA8-6B65-E6F0-37D8-75C5B536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F8A503-CF43-1329-DA53-9A2E17625E4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74208" y="1779896"/>
            <a:ext cx="10972080" cy="4085195"/>
          </a:xfrm>
        </p:spPr>
        <p:txBody>
          <a:bodyPr anchor="t" anchorCtr="0">
            <a:noAutofit/>
          </a:bodyPr>
          <a:lstStyle/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readboard-friendly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3,092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39D00D-9BEA-67F5-E63F-96D13C0C145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455320" y="1865520"/>
            <a:ext cx="2844000" cy="2094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533469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7218004" y="2742561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5626749" y="50465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直線單箭頭接點 11"/>
          <p:cNvCxnSpPr>
            <a:stCxn id="71" idx="3"/>
            <a:endCxn id="70" idx="1"/>
          </p:cNvCxnSpPr>
          <p:nvPr/>
        </p:nvCxnSpPr>
        <p:spPr>
          <a:xfrm>
            <a:off x="2597404" y="3175281"/>
            <a:ext cx="562680" cy="3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7473644" y="2460303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8954875" y="2460303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9" name="箭號: 向下 18"/>
          <p:cNvSpPr/>
          <p:nvPr/>
        </p:nvSpPr>
        <p:spPr>
          <a:xfrm>
            <a:off x="3720964" y="3660561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1" name="箭號: 向下 20"/>
          <p:cNvSpPr/>
          <p:nvPr/>
        </p:nvSpPr>
        <p:spPr>
          <a:xfrm rot="10800000">
            <a:off x="6108069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2" name="箭號: 向下 21"/>
          <p:cNvSpPr/>
          <p:nvPr/>
        </p:nvSpPr>
        <p:spPr>
          <a:xfrm>
            <a:off x="8801411" y="3660561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3" name="文字方塊 22"/>
          <p:cNvSpPr/>
          <p:nvPr/>
        </p:nvSpPr>
        <p:spPr>
          <a:xfrm>
            <a:off x="6781336" y="1557981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箭號: 向下 24"/>
          <p:cNvSpPr/>
          <p:nvPr/>
        </p:nvSpPr>
        <p:spPr>
          <a:xfrm rot="10800000">
            <a:off x="1409044" y="4485563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直線單箭頭接點 32"/>
          <p:cNvCxnSpPr/>
          <p:nvPr/>
        </p:nvCxnSpPr>
        <p:spPr>
          <a:xfrm flipV="1">
            <a:off x="885604" y="3088161"/>
            <a:ext cx="648720" cy="828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88" name="直線單箭頭接點 33"/>
          <p:cNvCxnSpPr/>
          <p:nvPr/>
        </p:nvCxnSpPr>
        <p:spPr>
          <a:xfrm flipH="1">
            <a:off x="885604" y="3303801"/>
            <a:ext cx="648720" cy="72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Data Mem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128KB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矩形: 圓角 45"/>
          <p:cNvSpPr/>
          <p:nvPr/>
        </p:nvSpPr>
        <p:spPr>
          <a:xfrm>
            <a:off x="5013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Inst MEM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64KB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" name="直線單箭頭接點 48"/>
          <p:cNvCxnSpPr>
            <a:stCxn id="92" idx="1"/>
            <a:endCxn id="89" idx="3"/>
          </p:cNvCxnSpPr>
          <p:nvPr/>
        </p:nvCxnSpPr>
        <p:spPr>
          <a:xfrm flipH="1">
            <a:off x="4678564" y="2029761"/>
            <a:ext cx="335520" cy="36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7789374" y="1557633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0599357" y="2510286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9912837" y="1557633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/ 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2522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EMC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箭號: 向下 24">
            <a:extLst>
              <a:ext uri="{FF2B5EF4-FFF2-40B4-BE49-F238E27FC236}">
                <a16:creationId xmlns:a16="http://schemas.microsoft.com/office/drawing/2014/main" id="{1571C252-84DC-AE1D-F6AC-165974568586}"/>
              </a:ext>
            </a:extLst>
          </p:cNvPr>
          <p:cNvSpPr/>
          <p:nvPr/>
        </p:nvSpPr>
        <p:spPr>
          <a:xfrm rot="10800000">
            <a:off x="3002403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5779149" y="51989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4039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512KB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1"/>
            <a:endCxn id="20" idx="3"/>
          </p:cNvCxnSpPr>
          <p:nvPr/>
        </p:nvCxnSpPr>
        <p:spPr>
          <a:xfrm flipH="1">
            <a:off x="3731763" y="5618803"/>
            <a:ext cx="30740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5931549" y="53513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6490756" y="6396478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4510109" y="655167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箭號: 向下 20">
            <a:extLst>
              <a:ext uri="{FF2B5EF4-FFF2-40B4-BE49-F238E27FC236}">
                <a16:creationId xmlns:a16="http://schemas.microsoft.com/office/drawing/2014/main" id="{CAB304BD-ACCA-8743-CCCC-1FCDAFA90F3C}"/>
              </a:ext>
            </a:extLst>
          </p:cNvPr>
          <p:cNvSpPr/>
          <p:nvPr/>
        </p:nvSpPr>
        <p:spPr>
          <a:xfrm rot="10800000">
            <a:off x="7820135" y="4505855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7366735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8856407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8576335" y="5620100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10461374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8" name="箭號: 向下 24">
            <a:extLst>
              <a:ext uri="{FF2B5EF4-FFF2-40B4-BE49-F238E27FC236}">
                <a16:creationId xmlns:a16="http://schemas.microsoft.com/office/drawing/2014/main" id="{14AC65FC-3D02-7228-ABD3-81C9634C06CA}"/>
              </a:ext>
            </a:extLst>
          </p:cNvPr>
          <p:cNvSpPr/>
          <p:nvPr/>
        </p:nvSpPr>
        <p:spPr>
          <a:xfrm rot="10800000">
            <a:off x="10941614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11066174" y="6141343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9082018" y="6522186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ADC_0 / ADC_1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latin typeface="Arial"/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62C5-35FB-4D9A-B910-67CDA9F8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5A7F29A-BED8-ADEF-1DC5-B113ECF26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Interrupt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System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4784BC0-8636-768D-15C1-BB566F7930FC}"/>
              </a:ext>
            </a:extLst>
          </p:cNvPr>
          <p:cNvSpPr/>
          <p:nvPr/>
        </p:nvSpPr>
        <p:spPr>
          <a:xfrm rot="16200000">
            <a:off x="-1482979" y="4079962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A071B250-DC67-5C0F-A3A6-5D493E72E98A}"/>
              </a:ext>
            </a:extLst>
          </p:cNvPr>
          <p:cNvSpPr/>
          <p:nvPr/>
        </p:nvSpPr>
        <p:spPr>
          <a:xfrm>
            <a:off x="5791200" y="211628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B3DB2511-DD16-5E19-93C9-4ADFC212D75F}"/>
              </a:ext>
            </a:extLst>
          </p:cNvPr>
          <p:cNvSpPr/>
          <p:nvPr/>
        </p:nvSpPr>
        <p:spPr>
          <a:xfrm>
            <a:off x="2106330" y="464552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A15549A6-1837-4E78-1A3E-B7357020950C}"/>
              </a:ext>
            </a:extLst>
          </p:cNvPr>
          <p:cNvSpPr/>
          <p:nvPr/>
        </p:nvSpPr>
        <p:spPr>
          <a:xfrm>
            <a:off x="2106330" y="303201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729A4D76-64B5-B230-AF12-9F23C1164B95}"/>
              </a:ext>
            </a:extLst>
          </p:cNvPr>
          <p:cNvSpPr/>
          <p:nvPr/>
        </p:nvSpPr>
        <p:spPr>
          <a:xfrm>
            <a:off x="3849345" y="3032017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A20D8E79-5A1C-46C5-12E4-D1078D4AF899}"/>
              </a:ext>
            </a:extLst>
          </p:cNvPr>
          <p:cNvSpPr/>
          <p:nvPr/>
        </p:nvSpPr>
        <p:spPr>
          <a:xfrm>
            <a:off x="5943600" y="226868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27EA8936-13A4-647E-AF3B-E317B7AE4F8A}"/>
              </a:ext>
            </a:extLst>
          </p:cNvPr>
          <p:cNvSpPr/>
          <p:nvPr/>
        </p:nvSpPr>
        <p:spPr>
          <a:xfrm>
            <a:off x="6096000" y="242108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76D9882-91B0-790B-02C1-BA456663A952}"/>
              </a:ext>
            </a:extLst>
          </p:cNvPr>
          <p:cNvSpPr/>
          <p:nvPr/>
        </p:nvSpPr>
        <p:spPr>
          <a:xfrm>
            <a:off x="5791200" y="379780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4CE44F2F-71D2-B5F1-3EDF-258F174256DB}"/>
              </a:ext>
            </a:extLst>
          </p:cNvPr>
          <p:cNvSpPr/>
          <p:nvPr/>
        </p:nvSpPr>
        <p:spPr>
          <a:xfrm>
            <a:off x="5943600" y="395020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7">
            <a:extLst>
              <a:ext uri="{FF2B5EF4-FFF2-40B4-BE49-F238E27FC236}">
                <a16:creationId xmlns:a16="http://schemas.microsoft.com/office/drawing/2014/main" id="{835FBAC2-DBC4-6414-C068-85B2BE6A0C82}"/>
              </a:ext>
            </a:extLst>
          </p:cNvPr>
          <p:cNvSpPr/>
          <p:nvPr/>
        </p:nvSpPr>
        <p:spPr>
          <a:xfrm>
            <a:off x="6096000" y="410260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891DF948-B01D-13DB-05BE-01081BCD4588}"/>
              </a:ext>
            </a:extLst>
          </p:cNvPr>
          <p:cNvSpPr/>
          <p:nvPr/>
        </p:nvSpPr>
        <p:spPr>
          <a:xfrm rot="16200000">
            <a:off x="1252800" y="3123531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F0671ADE-A805-4C9D-D176-0013C85F12C8}"/>
              </a:ext>
            </a:extLst>
          </p:cNvPr>
          <p:cNvSpPr/>
          <p:nvPr/>
        </p:nvSpPr>
        <p:spPr>
          <a:xfrm rot="16200000">
            <a:off x="1252801" y="4716659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74A15068-2A97-DE1A-F162-6E3BF323A50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5058945" y="2638823"/>
            <a:ext cx="732255" cy="915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C92EC857-CB88-460D-40BD-26ACB03BA2F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5058945" y="2638823"/>
            <a:ext cx="732255" cy="9157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3BE96FE8-B65D-C45F-B1F5-71AD93531204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5058945" y="3554557"/>
            <a:ext cx="732255" cy="7657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14A89BC4-1087-0A04-93A2-7077533F69D2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3315930" y="3554557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F4C9E6B9-BFD0-A0C5-8454-B72FF3EDAB90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2711130" y="4077097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2C9269D-3EFB-5F6C-1BEA-AD339E589489}"/>
              </a:ext>
            </a:extLst>
          </p:cNvPr>
          <p:cNvSpPr txBox="1"/>
          <p:nvPr/>
        </p:nvSpPr>
        <p:spPr>
          <a:xfrm>
            <a:off x="2772084" y="417664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8002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CECB-41EC-6E98-3333-33569C1AD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3AFB70B-EDCA-913A-326C-8E9129EB3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Memory Hierarchy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0317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Report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710B4-A7EA-2DFC-F7A3-8DCE9873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295FC3-CC32-A8CA-DBC4-95A659AF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E84174D-0F14-35A9-FC6C-2F4BA35D3324}"/>
              </a:ext>
            </a:extLst>
          </p:cNvPr>
          <p:cNvSpPr txBox="1"/>
          <p:nvPr/>
        </p:nvSpPr>
        <p:spPr>
          <a:xfrm>
            <a:off x="598394" y="1707776"/>
            <a:ext cx="1097208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target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RISC-V soft processor running on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A7-35T.</a:t>
            </a:r>
          </a:p>
          <a:p>
            <a:endParaRPr lang="en-US" dirty="0"/>
          </a:p>
        </p:txBody>
      </p:sp>
      <p:pic>
        <p:nvPicPr>
          <p:cNvPr id="11" name="Picture 9" descr="Vitis Embedded (SDK)">
            <a:extLst>
              <a:ext uri="{FF2B5EF4-FFF2-40B4-BE49-F238E27FC236}">
                <a16:creationId xmlns:a16="http://schemas.microsoft.com/office/drawing/2014/main" id="{395D4C6A-2461-00D5-D090-6455DB6BCC8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103606" y="199525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102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97817E2D-132A-2102-7023-6361BEA70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5053" y="4039720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6558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2481-0E47-FAC7-65C9-D45B32C8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27C74AF0-CE7A-939F-2FF9-CB98515113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315" b="17297"/>
          <a:stretch>
            <a:fillRect/>
          </a:stretch>
        </p:blipFill>
        <p:spPr>
          <a:xfrm>
            <a:off x="7886700" y="1546486"/>
            <a:ext cx="4150660" cy="430298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F13FDE3-9D9C-5A05-0C52-AF7B30EE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3A019C3-E5A0-DA43-EC4B-B469BB026EFD}"/>
              </a:ext>
            </a:extLst>
          </p:cNvPr>
          <p:cNvSpPr txBox="1"/>
          <p:nvPr/>
        </p:nvSpPr>
        <p:spPr>
          <a:xfrm>
            <a:off x="598394" y="1707776"/>
            <a:ext cx="109720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debug interface over JTAG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Connects to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MDM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Debug Module)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 ELF directly to BRAM/SRAM — no Flash needed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Halt, step, and resume CPU execution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Read/write memory and registers in real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rapid code-test-fix cycles during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bootloader required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692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736</Words>
  <Application>Microsoft Office PowerPoint</Application>
  <PresentationFormat>寬螢幕</PresentationFormat>
  <Paragraphs>137</Paragraphs>
  <Slides>12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9</vt:i4>
      </vt:variant>
      <vt:variant>
        <vt:lpstr>投影片標題</vt:lpstr>
      </vt:variant>
      <vt:variant>
        <vt:i4>12</vt:i4>
      </vt:variant>
    </vt:vector>
  </HeadingPairs>
  <TitlesOfParts>
    <vt:vector size="27" baseType="lpstr">
      <vt:lpstr>Arial</vt:lpstr>
      <vt:lpstr>Calibri</vt:lpstr>
      <vt:lpstr>Cambria Math</vt:lpstr>
      <vt:lpstr>Symbol</vt:lpstr>
      <vt:lpstr>Times New Roman</vt:lpstr>
      <vt:lpstr>Wingdings</vt:lpstr>
      <vt:lpstr>ncku__</vt:lpstr>
      <vt:lpstr>ncku__</vt:lpstr>
      <vt:lpstr>ncku__</vt:lpstr>
      <vt:lpstr>ncku__</vt:lpstr>
      <vt:lpstr>ncku__</vt:lpstr>
      <vt:lpstr>ncku__</vt:lpstr>
      <vt:lpstr>ncku__</vt:lpstr>
      <vt:lpstr>ncku__</vt:lpstr>
      <vt:lpstr>ncku__</vt:lpstr>
      <vt:lpstr>PowerPoint 簡報</vt:lpstr>
      <vt:lpstr>Outline</vt:lpstr>
      <vt:lpstr>FPGA Selection and Spec</vt:lpstr>
      <vt:lpstr>FPGA Selection and Spec</vt:lpstr>
      <vt:lpstr>Overview Microcontroller</vt:lpstr>
      <vt:lpstr>GPIO</vt:lpstr>
      <vt:lpstr>Interrupt System</vt:lpstr>
      <vt:lpstr>Memory Hierarchy</vt:lpstr>
      <vt:lpstr>Report</vt:lpstr>
      <vt:lpstr>Software Design Flow</vt:lpstr>
      <vt:lpstr>Software Design Flow</vt:lpstr>
      <vt:lpstr>Standalone Boot Sequence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Windows 使用者</dc:creator>
  <dc:description/>
  <cp:lastModifiedBy>黃偉峰 HUANG, WEI-FENG</cp:lastModifiedBy>
  <cp:revision>92</cp:revision>
  <dcterms:created xsi:type="dcterms:W3CDTF">2018-11-07T14:30:45Z</dcterms:created>
  <dcterms:modified xsi:type="dcterms:W3CDTF">2026-03-30T16:25:52Z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寬螢幕</vt:lpwstr>
  </property>
  <property fmtid="{D5CDD505-2E9C-101B-9397-08002B2CF9AE}" pid="4" name="Slides">
    <vt:i4>17</vt:i4>
  </property>
</Properties>
</file>