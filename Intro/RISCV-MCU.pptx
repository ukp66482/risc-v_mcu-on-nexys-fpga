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ppt/slideLayouts/slideLayout8.xml" ContentType="application/vnd.openxmlformats-officedocument.presentationml.slideLayout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theme/theme8.xml" ContentType="application/vnd.openxmlformats-officedocument.theme+xml"/>
  <Override PartName="/ppt/slideLayouts/slideLayout10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58" r:id="rId5"/>
    <p:sldMasterId id="2147483660" r:id="rId6"/>
    <p:sldMasterId id="2147483662" r:id="rId7"/>
    <p:sldMasterId id="2147483664" r:id="rId8"/>
    <p:sldMasterId id="2147483668" r:id="rId9"/>
  </p:sldMasterIdLst>
  <p:notesMasterIdLst>
    <p:notesMasterId r:id="rId31"/>
  </p:notesMasterIdLst>
  <p:sldIdLst>
    <p:sldId id="256" r:id="rId10"/>
    <p:sldId id="274" r:id="rId11"/>
    <p:sldId id="278" r:id="rId12"/>
    <p:sldId id="279" r:id="rId13"/>
    <p:sldId id="257" r:id="rId14"/>
    <p:sldId id="271" r:id="rId15"/>
    <p:sldId id="282" r:id="rId16"/>
    <p:sldId id="285" r:id="rId17"/>
    <p:sldId id="284" r:id="rId18"/>
    <p:sldId id="286" r:id="rId19"/>
    <p:sldId id="283" r:id="rId20"/>
    <p:sldId id="273" r:id="rId21"/>
    <p:sldId id="275" r:id="rId22"/>
    <p:sldId id="290" r:id="rId23"/>
    <p:sldId id="263" r:id="rId24"/>
    <p:sldId id="272" r:id="rId25"/>
    <p:sldId id="289" r:id="rId26"/>
    <p:sldId id="280" r:id="rId27"/>
    <p:sldId id="281" r:id="rId28"/>
    <p:sldId id="264" r:id="rId29"/>
    <p:sldId id="28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751" autoAdjust="0"/>
  </p:normalViewPr>
  <p:slideViewPr>
    <p:cSldViewPr snapToGrid="0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34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slide" Target="slides/slide2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tableStyles" Target="tableStyles.xml"/><Relationship Id="rId8" Type="http://schemas.openxmlformats.org/officeDocument/2006/relationships/slideMaster" Target="slideMasters/slideMaster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07342CF-35FB-406E-8734-9FDFFECECBE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200" b="0" strike="noStrike" spc="-1">
                <a:solidFill>
                  <a:schemeClr val="dk1"/>
                </a:solidFill>
                <a:latin typeface="Calibri"/>
                <a:ea typeface="Calibri"/>
              </a:rPr>
              <a:t>老師，各位同學好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5BB153-1C47-43CE-8548-5E70074E0DD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14:m>
                  <m:oMath xmlns:m="http://schemas.openxmlformats.org/officeDocument/2006/math">
                    <a:fld id="{825F15A7-03F4-43D7-82C5-3E23DA2F108C}" type="mathplaceholder">
                      <a:rPr lang="en-US" altLang="zh-TW" sz="12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a:t>在這裡鍵入方程式。</a:t>
                    </a:fld>
                  </m:oMath>
                </a14:m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lstStyle/>
          <a:p>
            <a:fld id="{9856DA5A-CF52-47BD-AC49-21DC5CAD223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標題及物件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1016000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334963" y="1482725"/>
            <a:ext cx="11615737" cy="511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1016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267200" y="6597650"/>
            <a:ext cx="38608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95504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7483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lstStyle/>
          <a:p>
            <a:fld id="{8213D05B-FB84-4633-9C9A-120521AE31C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8632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6"/>
          </p:nvPr>
        </p:nvSpPr>
        <p:spPr/>
        <p:txBody>
          <a:bodyPr/>
          <a:lstStyle/>
          <a:p>
            <a:fld id="{4D52DAE0-7E1F-47D1-9074-2A72228EBBE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EA6B1832-4525-49F4-BECE-BB125EA60FA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lstStyle/>
          <a:p>
            <a:fld id="{C597E3EE-548C-4723-B409-01695788DAA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lstStyle/>
          <a:p>
            <a:fld id="{3EA9670E-C16E-42E9-A125-B8BEB164725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lstStyle/>
          <a:p>
            <a:fld id="{16774CDD-D255-4571-A23A-6C752D253CB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9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pic>
        <p:nvPicPr>
          <p:cNvPr id="8" name="Google Shape;17;p16" descr="7"/>
          <p:cNvPicPr/>
          <p:nvPr/>
        </p:nvPicPr>
        <p:blipFill>
          <a:blip r:embed="rId4"/>
          <a:stretch/>
        </p:blipFill>
        <p:spPr>
          <a:xfrm>
            <a:off x="0" y="1828800"/>
            <a:ext cx="12191400" cy="2556720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18;p16" descr="9"/>
          <p:cNvPicPr/>
          <p:nvPr/>
        </p:nvPicPr>
        <p:blipFill>
          <a:blip r:embed="rId5"/>
          <a:stretch/>
        </p:blipFill>
        <p:spPr>
          <a:xfrm>
            <a:off x="0" y="1523880"/>
            <a:ext cx="12191400" cy="8056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65560" y="6400800"/>
            <a:ext cx="385992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0" y="6400800"/>
            <a:ext cx="25394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ftr" idx="6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sldNum" idx="7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9D7E20C-AB3C-40DA-ABAE-309E590DD45F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8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;p15" descr="6"/>
          <p:cNvPicPr/>
          <p:nvPr/>
        </p:nvPicPr>
        <p:blipFill>
          <a:blip r:embed="rId4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ftr" idx="9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sldNum" idx="10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51F372-F396-4EE6-B42B-32E3712AEE9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1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7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ftr" idx="12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sldNum" idx="13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4BA9D5F-2332-4B87-B30D-F4375F4595FA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4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28668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ftr" idx="15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4" name="PlaceHolder 5"/>
          <p:cNvSpPr>
            <a:spLocks noGrp="1"/>
          </p:cNvSpPr>
          <p:nvPr>
            <p:ph type="sldNum" idx="16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793562-07C8-4769-A52D-574B53D31BD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7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ftr" idx="18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sldNum" idx="19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9734889-943C-42D0-93AB-AC837AF29C8C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0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ftr" idx="21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2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4DDFF8-CEFB-44E6-B41E-DA3786F44A2C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3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ftr" idx="24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sldNum" idx="25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D17E14-7FC7-4BF2-8F95-E143412ED8FF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6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ftr" idx="30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sldNum" idx="31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BB08C5-53A2-4AAC-BA76-554DF1EE9073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2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ubTitle"/>
          </p:nvPr>
        </p:nvSpPr>
        <p:spPr>
          <a:xfrm>
            <a:off x="3997080" y="2286000"/>
            <a:ext cx="5603760" cy="160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RISC-V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On Cmod-A7-35T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文字方塊 1"/>
          <p:cNvSpPr/>
          <p:nvPr/>
        </p:nvSpPr>
        <p:spPr>
          <a:xfrm>
            <a:off x="7886880" y="6263640"/>
            <a:ext cx="4121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Arial"/>
              </a:rPr>
              <a:t>Developed by Wei-Feng Huang, DICLAB, NCKU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3CB5C-B2D4-60EF-03DA-4102F52F4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2D160DEC-BA85-3F13-32B9-B2BD0AAA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Outline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735929A-EEB5-117D-54CD-459EF48CEBA7}"/>
              </a:ext>
            </a:extLst>
          </p:cNvPr>
          <p:cNvSpPr txBox="1"/>
          <p:nvPr/>
        </p:nvSpPr>
        <p:spPr>
          <a:xfrm>
            <a:off x="572575" y="1468582"/>
            <a:ext cx="11213772" cy="5185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Mapped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</p:spTree>
    <p:extLst>
      <p:ext uri="{BB962C8B-B14F-4D97-AF65-F5344CB8AC3E}">
        <p14:creationId xmlns:p14="http://schemas.microsoft.com/office/powerpoint/2010/main" val="11766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DDFAA8-6B65-E6F0-37D8-75C5B536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F8A503-CF43-1329-DA53-9A2E17625E4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74208" y="1779896"/>
            <a:ext cx="10972080" cy="4085195"/>
          </a:xfrm>
        </p:spPr>
        <p:txBody>
          <a:bodyPr anchor="t" anchorCtr="0">
            <a:noAutofit/>
          </a:bodyPr>
          <a:lstStyle/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readboard-friendly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3,092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39D00D-9BEA-67F5-E63F-96D13C0C145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455320" y="1865520"/>
            <a:ext cx="2844000" cy="2094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533469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Overview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6096000" y="2725266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5626749" y="50465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" name="直線單箭頭接點 11"/>
          <p:cNvCxnSpPr>
            <a:stCxn id="71" idx="3"/>
            <a:endCxn id="70" idx="1"/>
          </p:cNvCxnSpPr>
          <p:nvPr/>
        </p:nvCxnSpPr>
        <p:spPr>
          <a:xfrm>
            <a:off x="2597404" y="3175281"/>
            <a:ext cx="562680" cy="3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6351640" y="2443008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7832871" y="2443008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9" name="箭號: 向下 18"/>
          <p:cNvSpPr/>
          <p:nvPr/>
        </p:nvSpPr>
        <p:spPr>
          <a:xfrm>
            <a:off x="3720964" y="3660561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1" name="箭號: 向下 20"/>
          <p:cNvSpPr/>
          <p:nvPr/>
        </p:nvSpPr>
        <p:spPr>
          <a:xfrm rot="10800000">
            <a:off x="6108069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2" name="箭號: 向下 21"/>
          <p:cNvSpPr/>
          <p:nvPr/>
        </p:nvSpPr>
        <p:spPr>
          <a:xfrm>
            <a:off x="7679407" y="3643266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3" name="文字方塊 22"/>
          <p:cNvSpPr/>
          <p:nvPr/>
        </p:nvSpPr>
        <p:spPr>
          <a:xfrm>
            <a:off x="5659332" y="1540686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箭號: 向下 24"/>
          <p:cNvSpPr/>
          <p:nvPr/>
        </p:nvSpPr>
        <p:spPr>
          <a:xfrm rot="10800000">
            <a:off x="1409044" y="4485563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直線單箭頭接點 32"/>
          <p:cNvCxnSpPr/>
          <p:nvPr/>
        </p:nvCxnSpPr>
        <p:spPr>
          <a:xfrm flipV="1">
            <a:off x="885604" y="3088161"/>
            <a:ext cx="648720" cy="828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88" name="直線單箭頭接點 33"/>
          <p:cNvCxnSpPr/>
          <p:nvPr/>
        </p:nvCxnSpPr>
        <p:spPr>
          <a:xfrm flipH="1">
            <a:off x="885604" y="3303801"/>
            <a:ext cx="648720" cy="72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latin typeface="Arial"/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6667370" y="1540338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77353" y="2492991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8790833" y="1540338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/ 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2522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EMC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箭號: 向下 24">
            <a:extLst>
              <a:ext uri="{FF2B5EF4-FFF2-40B4-BE49-F238E27FC236}">
                <a16:creationId xmlns:a16="http://schemas.microsoft.com/office/drawing/2014/main" id="{1571C252-84DC-AE1D-F6AC-165974568586}"/>
              </a:ext>
            </a:extLst>
          </p:cNvPr>
          <p:cNvSpPr/>
          <p:nvPr/>
        </p:nvSpPr>
        <p:spPr>
          <a:xfrm rot="10800000">
            <a:off x="3002403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5779149" y="51989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4039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512KB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1"/>
            <a:endCxn id="20" idx="3"/>
          </p:cNvCxnSpPr>
          <p:nvPr/>
        </p:nvCxnSpPr>
        <p:spPr>
          <a:xfrm flipH="1">
            <a:off x="3731763" y="5618803"/>
            <a:ext cx="30740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5931549" y="53513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6490756" y="6396478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4510109" y="655167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箭號: 向下 20">
            <a:extLst>
              <a:ext uri="{FF2B5EF4-FFF2-40B4-BE49-F238E27FC236}">
                <a16:creationId xmlns:a16="http://schemas.microsoft.com/office/drawing/2014/main" id="{CAB304BD-ACCA-8743-CCCC-1FCDAFA90F3C}"/>
              </a:ext>
            </a:extLst>
          </p:cNvPr>
          <p:cNvSpPr/>
          <p:nvPr/>
        </p:nvSpPr>
        <p:spPr>
          <a:xfrm rot="10800000">
            <a:off x="7820135" y="4505855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7366735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8856407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8576335" y="5620100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10461374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8" name="箭號: 向下 24">
            <a:extLst>
              <a:ext uri="{FF2B5EF4-FFF2-40B4-BE49-F238E27FC236}">
                <a16:creationId xmlns:a16="http://schemas.microsoft.com/office/drawing/2014/main" id="{14AC65FC-3D02-7228-ABD3-81C9634C06CA}"/>
              </a:ext>
            </a:extLst>
          </p:cNvPr>
          <p:cNvSpPr/>
          <p:nvPr/>
        </p:nvSpPr>
        <p:spPr>
          <a:xfrm rot="10800000">
            <a:off x="10941614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11066174" y="6141343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9082018" y="6522186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ADC_0 / ADC_1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latin typeface="Arial"/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1831-2A4C-DF65-567C-EE4D1100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88F64A03-2CB4-0443-D6BF-EF2E219B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Timer &amp; PWM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B73EC499-2E25-D0CE-FF66-8E24EDC6E0A0}"/>
              </a:ext>
            </a:extLst>
          </p:cNvPr>
          <p:cNvSpPr/>
          <p:nvPr/>
        </p:nvSpPr>
        <p:spPr>
          <a:xfrm rot="16200000">
            <a:off x="-1831771" y="3985694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DA963C86-4AF0-F188-C28F-B45DDF0D177B}"/>
              </a:ext>
            </a:extLst>
          </p:cNvPr>
          <p:cNvSpPr/>
          <p:nvPr/>
        </p:nvSpPr>
        <p:spPr>
          <a:xfrm>
            <a:off x="5442408" y="19292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0D078FA6-F4E3-A452-94C1-B5246FA49933}"/>
              </a:ext>
            </a:extLst>
          </p:cNvPr>
          <p:cNvSpPr/>
          <p:nvPr/>
        </p:nvSpPr>
        <p:spPr>
          <a:xfrm>
            <a:off x="1757538" y="354795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1563438C-8107-06E5-0ECA-3DE53EB058C8}"/>
              </a:ext>
            </a:extLst>
          </p:cNvPr>
          <p:cNvSpPr/>
          <p:nvPr/>
        </p:nvSpPr>
        <p:spPr>
          <a:xfrm>
            <a:off x="1757538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9330BF17-07A0-79FA-C755-2A6BF2229D71}"/>
              </a:ext>
            </a:extLst>
          </p:cNvPr>
          <p:cNvSpPr/>
          <p:nvPr/>
        </p:nvSpPr>
        <p:spPr>
          <a:xfrm>
            <a:off x="3500553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C818A15C-38A4-16FC-2D13-50E819D511FD}"/>
              </a:ext>
            </a:extLst>
          </p:cNvPr>
          <p:cNvSpPr/>
          <p:nvPr/>
        </p:nvSpPr>
        <p:spPr>
          <a:xfrm>
            <a:off x="5594808" y="20816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B691A30F-739D-06E5-2FCB-3067AF7E65C5}"/>
              </a:ext>
            </a:extLst>
          </p:cNvPr>
          <p:cNvSpPr/>
          <p:nvPr/>
        </p:nvSpPr>
        <p:spPr>
          <a:xfrm>
            <a:off x="5747208" y="22340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77DD55E6-10A3-A358-05C2-3FC6B5B1A026}"/>
              </a:ext>
            </a:extLst>
          </p:cNvPr>
          <p:cNvSpPr/>
          <p:nvPr/>
        </p:nvSpPr>
        <p:spPr>
          <a:xfrm rot="16200000">
            <a:off x="904008" y="2025956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B05CC935-4A03-0667-8D15-3C9E5F8B1B3D}"/>
              </a:ext>
            </a:extLst>
          </p:cNvPr>
          <p:cNvSpPr/>
          <p:nvPr/>
        </p:nvSpPr>
        <p:spPr>
          <a:xfrm rot="16200000">
            <a:off x="904009" y="361908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1102D1F-432D-B994-FDCB-8B826B4BB9F9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6D38501C-F889-F2C1-EA45-CFF6C0811FE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57E6E759-D9AA-0BDF-5071-58008ADB249B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967138" y="2456982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3029B94A-DCBB-47AA-1C97-E6ED2DE725BD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2362338" y="2979522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51EE46B-7109-EFE7-A2DD-D5AC6789DB9A}"/>
              </a:ext>
            </a:extLst>
          </p:cNvPr>
          <p:cNvSpPr txBox="1"/>
          <p:nvPr/>
        </p:nvSpPr>
        <p:spPr>
          <a:xfrm>
            <a:off x="2423292" y="307907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5179A49-00D4-6B94-7FC9-59307E45CC03}"/>
              </a:ext>
            </a:extLst>
          </p:cNvPr>
          <p:cNvSpPr/>
          <p:nvPr/>
        </p:nvSpPr>
        <p:spPr>
          <a:xfrm>
            <a:off x="1809299" y="51614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矩形: 圓角 7">
            <a:extLst>
              <a:ext uri="{FF2B5EF4-FFF2-40B4-BE49-F238E27FC236}">
                <a16:creationId xmlns:a16="http://schemas.microsoft.com/office/drawing/2014/main" id="{1B7FC50E-6A1E-C59E-B57B-7BBF94ED4964}"/>
              </a:ext>
            </a:extLst>
          </p:cNvPr>
          <p:cNvSpPr/>
          <p:nvPr/>
        </p:nvSpPr>
        <p:spPr>
          <a:xfrm>
            <a:off x="1961699" y="53138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7">
            <a:extLst>
              <a:ext uri="{FF2B5EF4-FFF2-40B4-BE49-F238E27FC236}">
                <a16:creationId xmlns:a16="http://schemas.microsoft.com/office/drawing/2014/main" id="{1F4D3DA4-A97A-76B2-E65C-342FE0B508E1}"/>
              </a:ext>
            </a:extLst>
          </p:cNvPr>
          <p:cNvSpPr/>
          <p:nvPr/>
        </p:nvSpPr>
        <p:spPr>
          <a:xfrm>
            <a:off x="2114099" y="54662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箭號: 上-下雙向 19">
            <a:extLst>
              <a:ext uri="{FF2B5EF4-FFF2-40B4-BE49-F238E27FC236}">
                <a16:creationId xmlns:a16="http://schemas.microsoft.com/office/drawing/2014/main" id="{F73E14FE-F9BF-6E27-C9E9-598DB87645B2}"/>
              </a:ext>
            </a:extLst>
          </p:cNvPr>
          <p:cNvSpPr/>
          <p:nvPr/>
        </p:nvSpPr>
        <p:spPr>
          <a:xfrm rot="16200000">
            <a:off x="904009" y="526292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F6507610-05EC-AEC6-98B0-D850BD005037}"/>
              </a:ext>
            </a:extLst>
          </p:cNvPr>
          <p:cNvCxnSpPr>
            <a:cxnSpLocks/>
            <a:stCxn id="16" idx="3"/>
            <a:endCxn id="29" idx="1"/>
          </p:cNvCxnSpPr>
          <p:nvPr/>
        </p:nvCxnSpPr>
        <p:spPr>
          <a:xfrm>
            <a:off x="3323699" y="5988806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38533E5-04CA-EEE2-4A75-CC7C198D07EE}"/>
              </a:ext>
            </a:extLst>
          </p:cNvPr>
          <p:cNvSpPr txBox="1"/>
          <p:nvPr/>
        </p:nvSpPr>
        <p:spPr>
          <a:xfrm>
            <a:off x="4006630" y="5804140"/>
            <a:ext cx="2148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B33A72F3-4864-A537-B740-173E5F6AB983}"/>
              </a:ext>
            </a:extLst>
          </p:cNvPr>
          <p:cNvSpPr txBox="1"/>
          <p:nvPr/>
        </p:nvSpPr>
        <p:spPr>
          <a:xfrm>
            <a:off x="7185423" y="1776647"/>
            <a:ext cx="487879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AXI Timer Instances — Two Roles: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System Timers (timer_0 / timer_1 / timer_2)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AXI Interrupt Controller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periodic interrupts for scheduling, timeout, or time measurement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PWM Timers (PWM_0 / PWM1 / PWM_2)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in PWM mode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servo control (SG90)</a:t>
            </a:r>
          </a:p>
          <a:p>
            <a:pPr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6 timers are the same IP, the difference is purely in how they are used — interrupt source vs. PWM output.</a:t>
            </a:r>
          </a:p>
        </p:txBody>
      </p:sp>
    </p:spTree>
    <p:extLst>
      <p:ext uri="{BB962C8B-B14F-4D97-AF65-F5344CB8AC3E}">
        <p14:creationId xmlns:p14="http://schemas.microsoft.com/office/powerpoint/2010/main" val="2895621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62B17-3240-7FB2-C35E-926018108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BC096A63-E61A-582D-2DBB-D198F19AA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Timer &amp; PWM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5C552DAF-0368-000D-40E0-457C7CE0C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003" y="1491049"/>
            <a:ext cx="6567993" cy="5142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012D1-F0FF-7EB7-E797-745506D7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C6B8070D-A6BE-BFD9-30C0-33B6542AF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UART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9C7DCEBE-7CDA-83B2-3426-76BAAAE03F13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03CC0EE7-32EF-09E8-560E-B31180B8CE08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095BAD7F-A724-D31B-0A50-76863E2DD21D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矩形: 圓角 23">
            <a:extLst>
              <a:ext uri="{FF2B5EF4-FFF2-40B4-BE49-F238E27FC236}">
                <a16:creationId xmlns:a16="http://schemas.microsoft.com/office/drawing/2014/main" id="{62093F4C-913F-6215-7CAB-2DDC0EB27C95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69C6085-5589-54F3-377E-839D25086485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3BD316AC-9B5D-106F-D34F-74A87F33A669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14">
            <a:extLst>
              <a:ext uri="{FF2B5EF4-FFF2-40B4-BE49-F238E27FC236}">
                <a16:creationId xmlns:a16="http://schemas.microsoft.com/office/drawing/2014/main" id="{53BD1B6E-8B14-61E5-B5D3-FA1BEEE1FC87}"/>
              </a:ext>
            </a:extLst>
          </p:cNvPr>
          <p:cNvCxnSpPr>
            <a:cxnSpLocks/>
            <a:stCxn id="20" idx="3"/>
            <a:endCxn id="35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7D30910F-D8E7-2E59-AD42-746234317054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5" name="文字方塊 22">
            <a:extLst>
              <a:ext uri="{FF2B5EF4-FFF2-40B4-BE49-F238E27FC236}">
                <a16:creationId xmlns:a16="http://schemas.microsoft.com/office/drawing/2014/main" id="{7CBA17DF-F2D8-945C-758E-C5116574D8E7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0F817FE-BFD2-0EF6-3A08-B7A51E219AAA}"/>
              </a:ext>
            </a:extLst>
          </p:cNvPr>
          <p:cNvSpPr txBox="1"/>
          <p:nvPr/>
        </p:nvSpPr>
        <p:spPr>
          <a:xfrm>
            <a:off x="5863991" y="2025573"/>
            <a:ext cx="60944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× AXI UART 16550 Instances: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uart_USB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Console / Debug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on-board USB-UART via Micro-USB (J3)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DIP pin exposed — accessed through USB cable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uart_1 — External Communication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TX/RX routed to DIP Pin 11 / Pin 12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Available for connecting external devices (sensors, modules, another MCU)</a:t>
            </a:r>
          </a:p>
        </p:txBody>
      </p:sp>
    </p:spTree>
    <p:extLst>
      <p:ext uri="{BB962C8B-B14F-4D97-AF65-F5344CB8AC3E}">
        <p14:creationId xmlns:p14="http://schemas.microsoft.com/office/powerpoint/2010/main" val="3879458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A9BC7-1AC6-8836-FEB4-E0644C25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1D539B61-01F8-BAA7-617D-69D403A1C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540" y="3157661"/>
            <a:ext cx="5707433" cy="1659461"/>
          </a:xfrm>
          <a:prstGeom prst="rect">
            <a:avLst/>
          </a:prstGeom>
        </p:spPr>
      </p:pic>
      <p:sp>
        <p:nvSpPr>
          <p:cNvPr id="69" name="PlaceHolder 1">
            <a:extLst>
              <a:ext uri="{FF2B5EF4-FFF2-40B4-BE49-F238E27FC236}">
                <a16:creationId xmlns:a16="http://schemas.microsoft.com/office/drawing/2014/main" id="{3E2051B3-FD76-0FDB-E44A-A6A0B7A55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UART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92960757-0725-511C-C50E-44B8748FB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02" y="2046463"/>
            <a:ext cx="5459798" cy="222239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1541454-B009-3740-7C6D-4074AAF5A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427" y="2046463"/>
            <a:ext cx="5693546" cy="145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32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D101-FBEA-B516-1545-8A35DE8D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E52B92DF-46D0-A0E5-45FC-B1540B61D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XADC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3E57EE-652B-A82C-1DDE-6433E07AE9C9}"/>
              </a:ext>
            </a:extLst>
          </p:cNvPr>
          <p:cNvSpPr txBox="1"/>
          <p:nvPr/>
        </p:nvSpPr>
        <p:spPr>
          <a:xfrm>
            <a:off x="673894" y="1413946"/>
            <a:ext cx="10032294" cy="5444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— On-chip Analog-to-Digital Converter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12-bit ADC inside Artix-7 FPGA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Enabled Channels (Continuous Sequencer):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VAUX4 (DIP Pin 15)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VAUX12 (DIP Pin 16)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— on-chip die temperature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VCCINT — core voltage monitor (1.0 V)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VCCAUX — auxiliary voltage monitor (1.8 V)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Specs: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conversion rate: 500 Kilo Samples Per Second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(KSPS)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Per-channel effective rate: ~100 KSPS (500K ÷ 5 channels)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range: 0–1 V at FPGA pins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(3.3 V on DIP pin scaled by on-board voltage divider)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Resolution: 12-bit (4096 levels)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276C320D-B81A-DA4B-8EC1-D6F2BF245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1960" y="1844991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4942A8D-E0DC-6454-52F4-57331A1855B4}"/>
              </a:ext>
            </a:extLst>
          </p:cNvPr>
          <p:cNvSpPr txBox="1"/>
          <p:nvPr/>
        </p:nvSpPr>
        <p:spPr>
          <a:xfrm>
            <a:off x="10985622" y="1894482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/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blipFill>
                <a:blip r:embed="rId3"/>
                <a:stretch>
                  <a:fillRect l="-10000" r="-250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DDB897D5-62BB-A6F2-216B-819235DF495A}"/>
              </a:ext>
            </a:extLst>
          </p:cNvPr>
          <p:cNvSpPr/>
          <p:nvPr/>
        </p:nvSpPr>
        <p:spPr>
          <a:xfrm>
            <a:off x="9925756" y="3104083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602BC7A5-EE95-57C3-9576-7AF1E48C8856}"/>
              </a:ext>
            </a:extLst>
          </p:cNvPr>
          <p:cNvCxnSpPr>
            <a:cxnSpLocks/>
          </p:cNvCxnSpPr>
          <p:nvPr/>
        </p:nvCxnSpPr>
        <p:spPr>
          <a:xfrm flipV="1">
            <a:off x="7682845" y="4821737"/>
            <a:ext cx="1470582" cy="121141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221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62C5-35FB-4D9A-B910-67CDA9F80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65A7F29A-BED8-ADEF-1DC5-B113ECF26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Interrupt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System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4784BC0-8636-768D-15C1-BB566F7930FC}"/>
              </a:ext>
            </a:extLst>
          </p:cNvPr>
          <p:cNvSpPr/>
          <p:nvPr/>
        </p:nvSpPr>
        <p:spPr>
          <a:xfrm rot="16200000">
            <a:off x="-1921129" y="4042799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A071B250-DC67-5C0F-A3A6-5D493E72E98A}"/>
              </a:ext>
            </a:extLst>
          </p:cNvPr>
          <p:cNvSpPr/>
          <p:nvPr/>
        </p:nvSpPr>
        <p:spPr>
          <a:xfrm>
            <a:off x="4785744" y="20791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B3DB2511-DD16-5E19-93C9-4ADFC212D75F}"/>
              </a:ext>
            </a:extLst>
          </p:cNvPr>
          <p:cNvSpPr/>
          <p:nvPr/>
        </p:nvSpPr>
        <p:spPr>
          <a:xfrm>
            <a:off x="1362698" y="460836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A15549A6-1837-4E78-1A3E-B7357020950C}"/>
              </a:ext>
            </a:extLst>
          </p:cNvPr>
          <p:cNvSpPr/>
          <p:nvPr/>
        </p:nvSpPr>
        <p:spPr>
          <a:xfrm>
            <a:off x="1362698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729A4D76-64B5-B230-AF12-9F23C1164B95}"/>
              </a:ext>
            </a:extLst>
          </p:cNvPr>
          <p:cNvSpPr/>
          <p:nvPr/>
        </p:nvSpPr>
        <p:spPr>
          <a:xfrm>
            <a:off x="3105713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A20D8E79-5A1C-46C5-12E4-D1078D4AF899}"/>
              </a:ext>
            </a:extLst>
          </p:cNvPr>
          <p:cNvSpPr/>
          <p:nvPr/>
        </p:nvSpPr>
        <p:spPr>
          <a:xfrm>
            <a:off x="4938144" y="22315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27EA8936-13A4-647E-AF3B-E317B7AE4F8A}"/>
              </a:ext>
            </a:extLst>
          </p:cNvPr>
          <p:cNvSpPr/>
          <p:nvPr/>
        </p:nvSpPr>
        <p:spPr>
          <a:xfrm>
            <a:off x="5090544" y="23839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76D9882-91B0-790B-02C1-BA456663A952}"/>
              </a:ext>
            </a:extLst>
          </p:cNvPr>
          <p:cNvSpPr/>
          <p:nvPr/>
        </p:nvSpPr>
        <p:spPr>
          <a:xfrm>
            <a:off x="4785744" y="3616944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891DF948-B01D-13DB-05BE-01081BCD4588}"/>
              </a:ext>
            </a:extLst>
          </p:cNvPr>
          <p:cNvSpPr/>
          <p:nvPr/>
        </p:nvSpPr>
        <p:spPr>
          <a:xfrm rot="16200000">
            <a:off x="661910" y="3065983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F0671ADE-A805-4C9D-D176-0013C85F12C8}"/>
              </a:ext>
            </a:extLst>
          </p:cNvPr>
          <p:cNvSpPr/>
          <p:nvPr/>
        </p:nvSpPr>
        <p:spPr>
          <a:xfrm rot="16200000">
            <a:off x="661911" y="4679495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74A15068-2A97-DE1A-F162-6E3BF323A50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C92EC857-CB88-460D-40BD-26ACB03BA2F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3BE96FE8-B65D-C45F-B1F5-71AD93531204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15313" y="3517393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14A89BC4-1087-0A04-93A2-7077533F69D2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572298" y="3517393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F4C9E6B9-BFD0-A0C5-8454-B72FF3EDAB90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1967498" y="4039933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2C9269D-3EFB-5F6C-1BEA-AD339E589489}"/>
              </a:ext>
            </a:extLst>
          </p:cNvPr>
          <p:cNvSpPr txBox="1"/>
          <p:nvPr/>
        </p:nvSpPr>
        <p:spPr>
          <a:xfrm>
            <a:off x="2028452" y="4139483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15" name="矩形: 圓角 23">
            <a:extLst>
              <a:ext uri="{FF2B5EF4-FFF2-40B4-BE49-F238E27FC236}">
                <a16:creationId xmlns:a16="http://schemas.microsoft.com/office/drawing/2014/main" id="{838A1EBD-CA22-E23D-0CEB-30590C3BC877}"/>
              </a:ext>
            </a:extLst>
          </p:cNvPr>
          <p:cNvSpPr/>
          <p:nvPr/>
        </p:nvSpPr>
        <p:spPr>
          <a:xfrm>
            <a:off x="4785744" y="48499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23">
            <a:extLst>
              <a:ext uri="{FF2B5EF4-FFF2-40B4-BE49-F238E27FC236}">
                <a16:creationId xmlns:a16="http://schemas.microsoft.com/office/drawing/2014/main" id="{7C33956F-CB99-AB9E-AB08-69F54BB688C9}"/>
              </a:ext>
            </a:extLst>
          </p:cNvPr>
          <p:cNvSpPr/>
          <p:nvPr/>
        </p:nvSpPr>
        <p:spPr>
          <a:xfrm>
            <a:off x="4904935" y="50023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FCF5381-FE96-D7C0-965B-639E5E54520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 flipV="1">
            <a:off x="4315313" y="3517393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1">
            <a:extLst>
              <a:ext uri="{FF2B5EF4-FFF2-40B4-BE49-F238E27FC236}">
                <a16:creationId xmlns:a16="http://schemas.microsoft.com/office/drawing/2014/main" id="{791EBDD3-CEF3-62B4-301B-C400B2FF7C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4727" y="1525655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800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CECB-41EC-6E98-3333-33569C1AD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3AFB70B-EDCA-913A-326C-8E9129EB3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Memory Hierarchy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070CD87-99C3-73D7-5A50-FC5F6F95ECD1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17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6CA2E-524A-9072-A35F-49D89CA2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6C0240C6-792C-15A6-F3FA-A8FAFC194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IP Memory Mapped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BBD7C3D-B530-67EC-DF8C-5BA1728DA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3" y="2169777"/>
            <a:ext cx="5997179" cy="391051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4CAD433B-7B69-93CF-7F87-2691D5FB9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4612" y="3341230"/>
            <a:ext cx="5997179" cy="2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215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Report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</p:spPr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710B4-A7EA-2DFC-F7A3-8DCE9873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295FC3-CC32-A8CA-DBC4-95A659AFD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for Debug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E84174D-0F14-35A9-FC6C-2F4BA35D3324}"/>
              </a:ext>
            </a:extLst>
          </p:cNvPr>
          <p:cNvSpPr txBox="1"/>
          <p:nvPr/>
        </p:nvSpPr>
        <p:spPr>
          <a:xfrm>
            <a:off x="598394" y="1707776"/>
            <a:ext cx="1097208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target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RISC-V soft processor running on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Cmod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A7-35T.</a:t>
            </a:r>
          </a:p>
          <a:p>
            <a:endParaRPr lang="en-US" dirty="0"/>
          </a:p>
        </p:txBody>
      </p:sp>
      <p:pic>
        <p:nvPicPr>
          <p:cNvPr id="11" name="Picture 9" descr="Vitis Embedded (SDK)">
            <a:extLst>
              <a:ext uri="{FF2B5EF4-FFF2-40B4-BE49-F238E27FC236}">
                <a16:creationId xmlns:a16="http://schemas.microsoft.com/office/drawing/2014/main" id="{395D4C6A-2461-00D5-D090-6455DB6BCC8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103606" y="199525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102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97817E2D-132A-2102-7023-6361BEA70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5053" y="4039720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6558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2481-0E47-FAC7-65C9-D45B32C8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27C74AF0-CE7A-939F-2FF9-CB98515113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315" b="17297"/>
          <a:stretch>
            <a:fillRect/>
          </a:stretch>
        </p:blipFill>
        <p:spPr>
          <a:xfrm>
            <a:off x="7886700" y="1546486"/>
            <a:ext cx="4150660" cy="430298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F13FDE3-9D9C-5A05-0C52-AF7B30EE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 for Debug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3A019C3-E5A0-DA43-EC4B-B469BB026EFD}"/>
              </a:ext>
            </a:extLst>
          </p:cNvPr>
          <p:cNvSpPr txBox="1"/>
          <p:nvPr/>
        </p:nvSpPr>
        <p:spPr>
          <a:xfrm>
            <a:off x="598394" y="1707776"/>
            <a:ext cx="109720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debug interface over JTAG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Connects to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MDM (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Debug Module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Capabilities: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 ELF directly to BRAM/SRAM — no Flash needed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Halt, step, and resume CPU execution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Read/write memory and registers in real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rapid code-test-fix cycles during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bootloader required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692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146F-4393-892E-2F12-74F505DA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733187EC-F55F-314C-501F-ABB344AAF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Issue to Address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>
            <a:extLst>
              <a:ext uri="{FF2B5EF4-FFF2-40B4-BE49-F238E27FC236}">
                <a16:creationId xmlns:a16="http://schemas.microsoft.com/office/drawing/2014/main" id="{2CC01002-543C-89A6-5077-F58D57F7F171}"/>
              </a:ext>
            </a:extLst>
          </p:cNvPr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0ADD298-6CC4-87F8-4C0B-13D75EAD4D37}"/>
              </a:ext>
            </a:extLst>
          </p:cNvPr>
          <p:cNvSpPr txBox="1"/>
          <p:nvPr/>
        </p:nvSpPr>
        <p:spPr>
          <a:xfrm>
            <a:off x="598394" y="1707776"/>
            <a:ext cx="109720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Interrupt (GPIO / Timer)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input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16550 Baud Rate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更改 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五個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channel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讀值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QSPI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內建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Bitstream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EMC SRAM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設計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流程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360517"/>
      </p:ext>
    </p:extLst>
  </p:cSld>
  <p:clrMapOvr>
    <a:masterClrMapping/>
  </p:clrMapOvr>
</p:sld>
</file>

<file path=ppt/theme/theme1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</TotalTime>
  <Words>1197</Words>
  <Application>Microsoft Office PowerPoint</Application>
  <PresentationFormat>寬螢幕</PresentationFormat>
  <Paragraphs>232</Paragraphs>
  <Slides>21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9</vt:i4>
      </vt:variant>
      <vt:variant>
        <vt:lpstr>投影片標題</vt:lpstr>
      </vt:variant>
      <vt:variant>
        <vt:i4>21</vt:i4>
      </vt:variant>
    </vt:vector>
  </HeadingPairs>
  <TitlesOfParts>
    <vt:vector size="36" baseType="lpstr">
      <vt:lpstr>Arial</vt:lpstr>
      <vt:lpstr>Calibri</vt:lpstr>
      <vt:lpstr>Cambria Math</vt:lpstr>
      <vt:lpstr>Symbol</vt:lpstr>
      <vt:lpstr>Times New Roman</vt:lpstr>
      <vt:lpstr>Wingdings</vt:lpstr>
      <vt:lpstr>ncku__</vt:lpstr>
      <vt:lpstr>ncku__</vt:lpstr>
      <vt:lpstr>ncku__</vt:lpstr>
      <vt:lpstr>ncku__</vt:lpstr>
      <vt:lpstr>ncku__</vt:lpstr>
      <vt:lpstr>ncku__</vt:lpstr>
      <vt:lpstr>ncku__</vt:lpstr>
      <vt:lpstr>ncku__</vt:lpstr>
      <vt:lpstr>ncku__</vt:lpstr>
      <vt:lpstr>PowerPoint 簡報</vt:lpstr>
      <vt:lpstr>Outline</vt:lpstr>
      <vt:lpstr>FPGA Selection and Spec</vt:lpstr>
      <vt:lpstr>FPGA Selection and Spec</vt:lpstr>
      <vt:lpstr>Overview Microcontroller</vt:lpstr>
      <vt:lpstr>GPIO</vt:lpstr>
      <vt:lpstr>Timer &amp; PWM</vt:lpstr>
      <vt:lpstr>Timer &amp; PWM</vt:lpstr>
      <vt:lpstr>UART</vt:lpstr>
      <vt:lpstr>UART</vt:lpstr>
      <vt:lpstr>XADC</vt:lpstr>
      <vt:lpstr>Interrupt System</vt:lpstr>
      <vt:lpstr>Memory Hierarchy</vt:lpstr>
      <vt:lpstr>IP Memory Mapped</vt:lpstr>
      <vt:lpstr>Report</vt:lpstr>
      <vt:lpstr>Software Design Flow</vt:lpstr>
      <vt:lpstr>PowerPoint 簡報</vt:lpstr>
      <vt:lpstr>Software Design Flow for Debug</vt:lpstr>
      <vt:lpstr>Software Design Flow for Debug</vt:lpstr>
      <vt:lpstr>Standalone Boot Sequence</vt:lpstr>
      <vt:lpstr>Issue to Address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Windows 使用者</dc:creator>
  <dc:description/>
  <cp:lastModifiedBy>黃偉峰 HUANG, WEI-FENG</cp:lastModifiedBy>
  <cp:revision>122</cp:revision>
  <dcterms:created xsi:type="dcterms:W3CDTF">2018-11-07T14:30:45Z</dcterms:created>
  <dcterms:modified xsi:type="dcterms:W3CDTF">2026-03-31T09:22:05Z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寬螢幕</vt:lpwstr>
  </property>
  <property fmtid="{D5CDD505-2E9C-101B-9397-08002B2CF9AE}" pid="4" name="Slides">
    <vt:i4>17</vt:i4>
  </property>
</Properties>
</file>