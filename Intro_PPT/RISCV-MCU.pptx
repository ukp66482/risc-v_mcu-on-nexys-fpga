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34"/>
  </p:notesMasterIdLst>
  <p:sldIdLst>
    <p:sldId id="256" r:id="rId3"/>
    <p:sldId id="274" r:id="rId4"/>
    <p:sldId id="294" r:id="rId5"/>
    <p:sldId id="278" r:id="rId6"/>
    <p:sldId id="292" r:id="rId7"/>
    <p:sldId id="279" r:id="rId8"/>
    <p:sldId id="295" r:id="rId9"/>
    <p:sldId id="257" r:id="rId10"/>
    <p:sldId id="293" r:id="rId11"/>
    <p:sldId id="262" r:id="rId12"/>
    <p:sldId id="291" r:id="rId13"/>
    <p:sldId id="296" r:id="rId14"/>
    <p:sldId id="271" r:id="rId15"/>
    <p:sldId id="282" r:id="rId16"/>
    <p:sldId id="284" r:id="rId17"/>
    <p:sldId id="283" r:id="rId18"/>
    <p:sldId id="273" r:id="rId19"/>
    <p:sldId id="297" r:id="rId20"/>
    <p:sldId id="302" r:id="rId21"/>
    <p:sldId id="298" r:id="rId22"/>
    <p:sldId id="263" r:id="rId23"/>
    <p:sldId id="299" r:id="rId24"/>
    <p:sldId id="272" r:id="rId25"/>
    <p:sldId id="289" r:id="rId26"/>
    <p:sldId id="280" r:id="rId27"/>
    <p:sldId id="281" r:id="rId28"/>
    <p:sldId id="300" r:id="rId29"/>
    <p:sldId id="304" r:id="rId30"/>
    <p:sldId id="303" r:id="rId31"/>
    <p:sldId id="264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2774" autoAdjust="0"/>
  </p:normalViewPr>
  <p:slideViewPr>
    <p:cSldViewPr snapToGrid="0">
      <p:cViewPr varScale="1">
        <p:scale>
          <a:sx n="110" d="100"/>
          <a:sy n="110" d="100"/>
        </p:scale>
        <p:origin x="5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07342CF-35FB-406E-8734-9FDFFECECBE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45BB153-1C47-43CE-8548-5E70074E0DD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降壓分壓：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2.32kΩ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電阻負責將外部訊號（如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3.3V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）按比例縮小至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安全可測的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0~1V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範圍。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戴維寧等效電阻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：將電源短路接地後，分壓電阻視為並聯。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端看出去的等效阻抗為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(2.32kΩ // 1kΩ) + 140Ω ≈ 838Ω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	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則為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直接接地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阻抗匹配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端直接串聯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電阻接地，目的是與 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838Ω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達成極度接近的阻抗匹配。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核心目的：兩端阻抗平衡可以完美抵銷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內部直流偏置電流（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DC Bias Current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）所造成的壓降誤差，大幅提升差分測量的精準度。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14:m>
                  <m:oMath xmlns:m="http://schemas.openxmlformats.org/officeDocument/2006/math">
                    <a:fld id="{825F15A7-03F4-43D7-82C5-3E23DA2F108C}" type="mathplaceholder">
                      <a:rPr lang="en-US" altLang="zh-TW" sz="12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a:t>在這裡鍵入方程式。</a:t>
                    </a:fld>
                  </m:oMath>
                </a14:m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高輸入阻抗：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測量端阻抗極高，實際流入的電流微乎其微（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nA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等級），在外部電阻上產生的電壓降極小，幾乎不影響量測。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6.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差分相減抵銷誤差：即便有微小的偏置電流，因為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(838Ω)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(845Ω)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阻抗極度匹配，兩端產生的誤差電壓相等。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測量差分電壓（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減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）時，此誤差會被完美抵銷。</a:t>
                </a:r>
                <a:endParaRPr lang="zh-TW" altLang="en-US" dirty="0">
                  <a:effectLst/>
                </a:endParaRPr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降壓分壓：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2.32kΩ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1kΩ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電阻負責將外部訊號（如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3.3V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）按比例縮小至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安全可測的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0~1V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範圍。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2. 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戴維寧等效電阻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：將電源短路接地後，分壓電阻視為並聯。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端看出去的等效阻抗為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(2.32kΩ // 1kΩ) + 140Ω ≈ 838Ω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	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則為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直接接地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3. 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阻抗匹配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ADx_N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端直接串聯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845Ω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電阻接地，目的是與 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ADx_P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端的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838Ω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達成極度接近的阻抗匹配。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4. 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核心目的：兩端阻抗平衡可以完美抵銷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內部直流偏置電流（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DC Bias Current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）所造成的壓降誤差，大幅提升差分測量的精準度。</a:t>
                </a:r>
                <a:endParaRPr lang="en-US" altLang="zh-TW" sz="1200" b="0" i="0" u="none" strike="noStrike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rtl="0"/>
                <a:r>
                  <a:rPr lang="en-US" altLang="zh-TW" sz="1200" b="0" i="0" u="none" strike="noStrike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"在這裡鍵入方程式。"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高輸入阻抗：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測量端阻抗極高，實際流入的電流微乎其微（</a:t>
                </a:r>
                <a:r>
                  <a:rPr lang="en-US" altLang="zh-TW" sz="1200" b="0" i="0" u="none" strike="noStrike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nA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等級），在外部電阻上產生的電壓降極小，幾乎不影響量測。</a:t>
                </a:r>
                <a:endParaRPr lang="zh-TW" altLang="en-US" dirty="0">
                  <a:effectLst/>
                </a:endParaRPr>
              </a:p>
              <a:p>
                <a:pPr rtl="0"/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6.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差分相減抵銷誤差：即便有微小的偏置電流，因為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(838Ω)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與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端 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(845Ω)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阻抗極度匹配，兩端產生的誤差電壓相等。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XADC 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測量差分電壓（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減</a:t>
                </a:r>
                <a:r>
                  <a:rPr lang="en-US" altLang="zh-TW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</a:t>
                </a:r>
                <a:r>
                  <a:rPr lang="zh-TW" alt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）時，此誤差會被完美抵銷。</a:t>
                </a:r>
                <a:endParaRPr lang="zh-TW" altLang="en-US" dirty="0">
                  <a:effectLst/>
                </a:endParaRP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pPr indent="0" algn="r">
              <a:buNone/>
            </a:pPr>
            <a:fld id="{607342CF-35FB-406E-8734-9FDFFECECBEF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6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4076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334800" y="1482840"/>
            <a:ext cx="116150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34800" y="1482840"/>
            <a:ext cx="116150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標題及物件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1016000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334963" y="1482725"/>
            <a:ext cx="11615737" cy="511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1016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4267200" y="6597650"/>
            <a:ext cx="38608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Footer</a:t>
            </a:r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95504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748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0;p15" descr="6"/>
          <p:cNvPicPr/>
          <p:nvPr/>
        </p:nvPicPr>
        <p:blipFill>
          <a:blip r:embed="rId3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pic>
        <p:nvPicPr>
          <p:cNvPr id="8" name="Google Shape;17;p16" descr="7"/>
          <p:cNvPicPr/>
          <p:nvPr/>
        </p:nvPicPr>
        <p:blipFill>
          <a:blip r:embed="rId4"/>
          <a:stretch/>
        </p:blipFill>
        <p:spPr>
          <a:xfrm>
            <a:off x="0" y="1828800"/>
            <a:ext cx="12191400" cy="2556720"/>
          </a:xfrm>
          <a:prstGeom prst="rect">
            <a:avLst/>
          </a:prstGeom>
          <a:ln w="0">
            <a:noFill/>
          </a:ln>
        </p:spPr>
      </p:pic>
      <p:pic>
        <p:nvPicPr>
          <p:cNvPr id="2" name="Google Shape;18;p16" descr="9"/>
          <p:cNvPicPr/>
          <p:nvPr/>
        </p:nvPicPr>
        <p:blipFill>
          <a:blip r:embed="rId5"/>
          <a:stretch/>
        </p:blipFill>
        <p:spPr>
          <a:xfrm>
            <a:off x="0" y="1523880"/>
            <a:ext cx="12191400" cy="8056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165560" y="6400800"/>
            <a:ext cx="385992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0" y="6400800"/>
            <a:ext cx="25394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0;p15" descr="6"/>
          <p:cNvPicPr/>
          <p:nvPr/>
        </p:nvPicPr>
        <p:blipFill>
          <a:blip r:embed="rId4"/>
          <a:stretch/>
        </p:blipFill>
        <p:spPr>
          <a:xfrm>
            <a:off x="0" y="0"/>
            <a:ext cx="12191400" cy="15217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34800" y="1482840"/>
            <a:ext cx="116150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ftr" idx="9"/>
          </p:nvPr>
        </p:nvSpPr>
        <p:spPr>
          <a:xfrm>
            <a:off x="4267080" y="6597720"/>
            <a:ext cx="385992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Footer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sldNum" idx="10"/>
          </p:nvPr>
        </p:nvSpPr>
        <p:spPr>
          <a:xfrm>
            <a:off x="955044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1" strike="noStrike" spc="-1">
                <a:solidFill>
                  <a:srgbClr val="0033CC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F51F372-F396-4EE6-B42B-32E3712AEE90}" type="slidenum">
              <a:rPr lang="en-US" sz="1400" b="1" strike="noStrike" spc="-1">
                <a:solidFill>
                  <a:srgbClr val="0033CC"/>
                </a:solidFill>
                <a:latin typeface="Calibri"/>
                <a:ea typeface="Calibri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dt" idx="11"/>
          </p:nvPr>
        </p:nvSpPr>
        <p:spPr>
          <a:xfrm>
            <a:off x="101520" y="6597720"/>
            <a:ext cx="2539440" cy="2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7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hyperlink" Target="https://github.com/riscv-collab/riscv-gnu-toolchai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ubTitle"/>
          </p:nvPr>
        </p:nvSpPr>
        <p:spPr>
          <a:xfrm>
            <a:off x="3997080" y="2286000"/>
            <a:ext cx="5603760" cy="160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lt1"/>
                </a:solidFill>
                <a:latin typeface="Arial"/>
                <a:ea typeface="Times New Roman"/>
              </a:rPr>
              <a:t>RISC-V Microcontroller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lt1"/>
                </a:solidFill>
                <a:latin typeface="Arial"/>
                <a:ea typeface="Times New Roman"/>
              </a:rPr>
              <a:t>On Cmod-A7-35T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文字方塊 1"/>
          <p:cNvSpPr/>
          <p:nvPr/>
        </p:nvSpPr>
        <p:spPr>
          <a:xfrm>
            <a:off x="7886880" y="6263640"/>
            <a:ext cx="41216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Developed by Wei-Feng Huang, DICLAB, NCKU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3CB5C-B2D4-60EF-03DA-4102F52F4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2D160DEC-BA85-3F13-32B9-B2BD0AAAB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Outline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35929A-EEB5-117D-54CD-459EF48CEBA7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AXI Mapping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10F8A8-CC91-9840-6880-42240B558D5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7663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B8356-F04D-2FBD-EA0B-2A98397F2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A36C4891-4067-676D-726B-2A5CE5A6F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Outline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20EA6F0-C73C-21ED-B9D6-768ECB1307BD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4A2D5E-2002-8B7E-720D-197F919A5A0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443148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DDFAA8-6B65-E6F0-37D8-75C5B536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FPGA</a:t>
            </a:r>
            <a:r>
              <a:rPr lang="zh-TW" alt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Selection and Spec</a:t>
            </a:r>
            <a:endParaRPr 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F8A503-CF43-1329-DA53-9A2E17625E4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74208" y="1779896"/>
            <a:ext cx="10972080" cy="4085195"/>
          </a:xfrm>
        </p:spPr>
        <p:txBody>
          <a:bodyPr anchor="t" anchorCtr="0">
            <a:noAutofit/>
          </a:bodyPr>
          <a:lstStyle/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Board: Cmod-A7-35T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Chip: xc7a35tcpg236-1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readboard-friendly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48-pin DIP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connector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48 DIP pins at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LVCMOS33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(3.3 V logic level)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series resistors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direct connection to FPGA I/O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 pins: 0–3.3 V input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scaled to 0–1 V via on-board voltage divider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3,092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39D00D-9BEA-67F5-E63F-96D13C0C145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455320" y="1865520"/>
            <a:ext cx="2844000" cy="2094840"/>
          </a:xfrm>
          <a:prstGeom prst="rect">
            <a:avLst/>
          </a:prstGeom>
          <a:ln w="0"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0CA6D-8434-6431-3D04-26A2F76C8D0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4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33469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9094A-2CDA-3BAD-221E-0D93852A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08C323D2-E779-1830-948D-525DDD940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436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FPGA</a:t>
            </a:r>
            <a:r>
              <a:rPr lang="zh-TW" altLang="en-US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b="1" spc="-1" dirty="0">
                <a:solidFill>
                  <a:srgbClr val="DDDDDD"/>
                </a:solidFill>
                <a:latin typeface="Calibri"/>
                <a:ea typeface="Calibri"/>
              </a:rPr>
              <a:t>Selection and Spec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6" name="Picture 2" descr="Cmod A7-35T: Breadboardable Artix-7 FPGA Module - Digilent">
            <a:extLst>
              <a:ext uri="{FF2B5EF4-FFF2-40B4-BE49-F238E27FC236}">
                <a16:creationId xmlns:a16="http://schemas.microsoft.com/office/drawing/2014/main" id="{7FBF4CE4-8449-4DC3-DBC3-3300BB91DF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2" t="36009" r="4500" b="40627"/>
          <a:stretch>
            <a:fillRect/>
          </a:stretch>
        </p:blipFill>
        <p:spPr bwMode="auto">
          <a:xfrm>
            <a:off x="2905245" y="2986268"/>
            <a:ext cx="5833641" cy="1469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線單箭頭接點 26">
            <a:extLst>
              <a:ext uri="{FF2B5EF4-FFF2-40B4-BE49-F238E27FC236}">
                <a16:creationId xmlns:a16="http://schemas.microsoft.com/office/drawing/2014/main" id="{05E835DE-AA31-2675-B857-D642D1687F46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6850966" y="2525939"/>
            <a:ext cx="0" cy="79865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A4794-1E58-3542-B788-9E4693FADF4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5</a:t>
            </a:fld>
            <a:endParaRPr lang="en-T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9EC067-3C0D-31FD-78ED-311F29DAD063}"/>
              </a:ext>
            </a:extLst>
          </p:cNvPr>
          <p:cNvSpPr txBox="1"/>
          <p:nvPr/>
        </p:nvSpPr>
        <p:spPr>
          <a:xfrm>
            <a:off x="4293214" y="1602609"/>
            <a:ext cx="51155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 Flash 4MB:</a:t>
            </a:r>
          </a:p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Micron-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N25Q0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(32Mbit / 4MB) 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Macronix-MX25L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33FZBI-08G/Q (32Mbit / 4MB)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26">
            <a:extLst>
              <a:ext uri="{FF2B5EF4-FFF2-40B4-BE49-F238E27FC236}">
                <a16:creationId xmlns:a16="http://schemas.microsoft.com/office/drawing/2014/main" id="{5FA1B039-8FAE-3142-32BF-1A64863FAA8E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6360476" y="4135902"/>
            <a:ext cx="413575" cy="709513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F9BB4CE-57DA-38E0-162C-2CB0E54A809F}"/>
              </a:ext>
            </a:extLst>
          </p:cNvPr>
          <p:cNvSpPr txBox="1"/>
          <p:nvPr/>
        </p:nvSpPr>
        <p:spPr>
          <a:xfrm>
            <a:off x="5043449" y="4845415"/>
            <a:ext cx="34612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SRAM 512KB: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IS61WV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5128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BLL-10BLI (512KB)</a:t>
            </a:r>
          </a:p>
          <a:p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DE31D4-5D94-B58F-CABD-234A7B6B417C}"/>
              </a:ext>
            </a:extLst>
          </p:cNvPr>
          <p:cNvSpPr txBox="1"/>
          <p:nvPr/>
        </p:nvSpPr>
        <p:spPr>
          <a:xfrm>
            <a:off x="2409395" y="4845414"/>
            <a:ext cx="2279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XC7A35T-1CPG236C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26">
            <a:extLst>
              <a:ext uri="{FF2B5EF4-FFF2-40B4-BE49-F238E27FC236}">
                <a16:creationId xmlns:a16="http://schemas.microsoft.com/office/drawing/2014/main" id="{EE4C2AE2-F407-15DF-E358-73A7EEEC8D08}"/>
              </a:ext>
            </a:extLst>
          </p:cNvPr>
          <p:cNvCxnSpPr>
            <a:cxnSpLocks/>
          </p:cNvCxnSpPr>
          <p:nvPr/>
        </p:nvCxnSpPr>
        <p:spPr>
          <a:xfrm flipH="1">
            <a:off x="3549130" y="4135902"/>
            <a:ext cx="1880999" cy="738368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40267D0-2644-50AC-9EC4-2F09EA2B478B}"/>
              </a:ext>
            </a:extLst>
          </p:cNvPr>
          <p:cNvSpPr txBox="1"/>
          <p:nvPr/>
        </p:nvSpPr>
        <p:spPr>
          <a:xfrm>
            <a:off x="9408717" y="3500668"/>
            <a:ext cx="227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PMOD</a:t>
            </a:r>
          </a:p>
        </p:txBody>
      </p:sp>
      <p:cxnSp>
        <p:nvCxnSpPr>
          <p:cNvPr id="23" name="直線單箭頭接點 26">
            <a:extLst>
              <a:ext uri="{FF2B5EF4-FFF2-40B4-BE49-F238E27FC236}">
                <a16:creationId xmlns:a16="http://schemas.microsoft.com/office/drawing/2014/main" id="{68CAC0B4-6BAE-4A2D-77FA-BD5F054F5F00}"/>
              </a:ext>
            </a:extLst>
          </p:cNvPr>
          <p:cNvCxnSpPr>
            <a:cxnSpLocks/>
          </p:cNvCxnSpPr>
          <p:nvPr/>
        </p:nvCxnSpPr>
        <p:spPr>
          <a:xfrm>
            <a:off x="8688654" y="3685334"/>
            <a:ext cx="692258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0CC39FA6-9ED6-6FB8-29A6-51A5BE061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8887" y="4007238"/>
            <a:ext cx="3350994" cy="92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B5AEA9-6EE8-4A27-7DC2-37857B0F0D71}"/>
              </a:ext>
            </a:extLst>
          </p:cNvPr>
          <p:cNvSpPr txBox="1"/>
          <p:nvPr/>
        </p:nvSpPr>
        <p:spPr>
          <a:xfrm>
            <a:off x="1643548" y="1921920"/>
            <a:ext cx="1819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/ JTAG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FTDI FT2232HQ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線單箭頭接點 26">
            <a:extLst>
              <a:ext uri="{FF2B5EF4-FFF2-40B4-BE49-F238E27FC236}">
                <a16:creationId xmlns:a16="http://schemas.microsoft.com/office/drawing/2014/main" id="{6BA4315B-4526-A3B9-9A79-20728B205739}"/>
              </a:ext>
            </a:extLst>
          </p:cNvPr>
          <p:cNvCxnSpPr>
            <a:cxnSpLocks/>
            <a:endCxn id="2" idx="2"/>
          </p:cNvCxnSpPr>
          <p:nvPr/>
        </p:nvCxnSpPr>
        <p:spPr>
          <a:xfrm flipH="1" flipV="1">
            <a:off x="2553413" y="2568251"/>
            <a:ext cx="1238672" cy="79823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871E152-3784-EDDB-D80E-1FC42E4F5DE8}"/>
              </a:ext>
            </a:extLst>
          </p:cNvPr>
          <p:cNvSpPr txBox="1"/>
          <p:nvPr/>
        </p:nvSpPr>
        <p:spPr>
          <a:xfrm>
            <a:off x="589666" y="3400846"/>
            <a:ext cx="15203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/ JTAG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Micro-USB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單箭頭接點 26">
            <a:extLst>
              <a:ext uri="{FF2B5EF4-FFF2-40B4-BE49-F238E27FC236}">
                <a16:creationId xmlns:a16="http://schemas.microsoft.com/office/drawing/2014/main" id="{664191F4-D419-E271-9AE1-99A3BB57F15E}"/>
              </a:ext>
            </a:extLst>
          </p:cNvPr>
          <p:cNvCxnSpPr>
            <a:cxnSpLocks/>
            <a:stCxn id="1026" idx="1"/>
            <a:endCxn id="7" idx="3"/>
          </p:cNvCxnSpPr>
          <p:nvPr/>
        </p:nvCxnSpPr>
        <p:spPr>
          <a:xfrm flipH="1">
            <a:off x="2110019" y="3721261"/>
            <a:ext cx="795226" cy="275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990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72C25B-91F2-8B92-1473-A19912CDB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FPGA</a:t>
            </a:r>
            <a:r>
              <a:rPr lang="zh-TW" altLang="en-US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b="1" spc="-1" dirty="0">
                <a:solidFill>
                  <a:srgbClr val="DDDDDD"/>
                </a:solidFill>
                <a:latin typeface="Calibri"/>
                <a:ea typeface="Calibri"/>
              </a:rPr>
              <a:t>Selection and Spec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00F2788-E8B9-10F1-4D43-670B61ADD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544" y="2096655"/>
            <a:ext cx="1713864" cy="4761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80F3199-EF38-CEDC-1870-EBA18CBB6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740" y="3182918"/>
            <a:ext cx="5583382" cy="297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6D96022-A0CB-59F9-747D-89E2BE0CFE0D}"/>
              </a:ext>
            </a:extLst>
          </p:cNvPr>
          <p:cNvSpPr/>
          <p:nvPr/>
        </p:nvSpPr>
        <p:spPr>
          <a:xfrm>
            <a:off x="5698837" y="3182918"/>
            <a:ext cx="951345" cy="7979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A6BA85A5-D995-1C8C-B319-13603D51DE64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6650182" y="3581897"/>
            <a:ext cx="2025362" cy="15350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1F7DC024-A10A-79FE-32CB-3318C34A6662}"/>
              </a:ext>
            </a:extLst>
          </p:cNvPr>
          <p:cNvSpPr txBox="1"/>
          <p:nvPr/>
        </p:nvSpPr>
        <p:spPr>
          <a:xfrm>
            <a:off x="5637402" y="320480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DAE217-E7B8-68FF-438E-C041810D0F39}"/>
                  </a:ext>
                </a:extLst>
              </p:cNvPr>
              <p:cNvSpPr txBox="1"/>
              <p:nvPr/>
            </p:nvSpPr>
            <p:spPr>
              <a:xfrm>
                <a:off x="1117896" y="1496840"/>
                <a:ext cx="6270947" cy="5712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𝐷𝐼𝑉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𝐴𝐼𝑁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𝐴𝐼𝑁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2.32 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𝐴𝐼𝑁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×0.301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DAE217-E7B8-68FF-438E-C041810D0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96" y="1496840"/>
                <a:ext cx="6270947" cy="5712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63B58FB-17A7-4663-F80B-416436348B30}"/>
                  </a:ext>
                </a:extLst>
              </p:cNvPr>
              <p:cNvSpPr txBox="1"/>
              <p:nvPr/>
            </p:nvSpPr>
            <p:spPr>
              <a:xfrm>
                <a:off x="1117896" y="2194545"/>
                <a:ext cx="29760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𝐷𝐼𝑉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=3.3×0.301=0.994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63B58FB-17A7-4663-F80B-416436348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96" y="2194545"/>
                <a:ext cx="2976071" cy="276999"/>
              </a:xfrm>
              <a:prstGeom prst="rect">
                <a:avLst/>
              </a:prstGeom>
              <a:blipFill>
                <a:blip r:embed="rId6"/>
                <a:stretch>
                  <a:fillRect l="-1227" r="-10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006CC74-0C61-F9B0-99F6-6FE18DF2B808}"/>
                  </a:ext>
                </a:extLst>
              </p:cNvPr>
              <p:cNvSpPr txBox="1"/>
              <p:nvPr/>
            </p:nvSpPr>
            <p:spPr>
              <a:xfrm>
                <a:off x="5171762" y="3152001"/>
                <a:ext cx="4803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𝐴𝐼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006CC74-0C61-F9B0-99F6-6FE18DF2B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762" y="3152001"/>
                <a:ext cx="480388" cy="276999"/>
              </a:xfrm>
              <a:prstGeom prst="rect">
                <a:avLst/>
              </a:prstGeom>
              <a:blipFill>
                <a:blip r:embed="rId7"/>
                <a:stretch>
                  <a:fillRect l="-8861" r="-379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BBA61EE-48E1-70F8-E9BD-159CA976D98A}"/>
                  </a:ext>
                </a:extLst>
              </p:cNvPr>
              <p:cNvSpPr txBox="1"/>
              <p:nvPr/>
            </p:nvSpPr>
            <p:spPr>
              <a:xfrm>
                <a:off x="4711760" y="4287333"/>
                <a:ext cx="4854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BBA61EE-48E1-70F8-E9BD-159CA976D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760" y="4287333"/>
                <a:ext cx="485454" cy="276999"/>
              </a:xfrm>
              <a:prstGeom prst="rect">
                <a:avLst/>
              </a:prstGeom>
              <a:blipFill>
                <a:blip r:embed="rId8"/>
                <a:stretch>
                  <a:fillRect l="-11250" r="-125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B881BEA-99B1-5C3A-42D8-613115AAE2FC}"/>
                  </a:ext>
                </a:extLst>
              </p:cNvPr>
              <p:cNvSpPr txBox="1"/>
              <p:nvPr/>
            </p:nvSpPr>
            <p:spPr>
              <a:xfrm>
                <a:off x="1117896" y="2721044"/>
                <a:ext cx="5047151" cy="286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𝑚𝑒𝑎𝑠𝑢𝑟𝑒𝑑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𝐴𝐷𝑥</m:t>
                          </m:r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𝐴𝐷𝑥</m:t>
                          </m:r>
                          <m:r>
                            <m:rPr>
                              <m:lit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𝐷𝐼𝑉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−0=0.994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B881BEA-99B1-5C3A-42D8-613115AAE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96" y="2721044"/>
                <a:ext cx="5047151" cy="286297"/>
              </a:xfrm>
              <a:prstGeom prst="rect">
                <a:avLst/>
              </a:prstGeom>
              <a:blipFill>
                <a:blip r:embed="rId9"/>
                <a:stretch>
                  <a:fillRect l="-483" r="-604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橢圓 14">
            <a:extLst>
              <a:ext uri="{FF2B5EF4-FFF2-40B4-BE49-F238E27FC236}">
                <a16:creationId xmlns:a16="http://schemas.microsoft.com/office/drawing/2014/main" id="{D33EDBAE-F10B-60BF-1CFC-9F3670FA4EE1}"/>
              </a:ext>
            </a:extLst>
          </p:cNvPr>
          <p:cNvSpPr/>
          <p:nvPr/>
        </p:nvSpPr>
        <p:spPr>
          <a:xfrm>
            <a:off x="4577536" y="4414409"/>
            <a:ext cx="134224" cy="1258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6A72F4-4140-8F9C-947D-82D9E8D887BA}"/>
              </a:ext>
            </a:extLst>
          </p:cNvPr>
          <p:cNvSpPr/>
          <p:nvPr/>
        </p:nvSpPr>
        <p:spPr>
          <a:xfrm>
            <a:off x="2650494" y="4197673"/>
            <a:ext cx="800372" cy="12389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84986B5-5250-7B0B-12E9-1BA70559826F}"/>
              </a:ext>
            </a:extLst>
          </p:cNvPr>
          <p:cNvSpPr txBox="1"/>
          <p:nvPr/>
        </p:nvSpPr>
        <p:spPr>
          <a:xfrm>
            <a:off x="2176081" y="3752840"/>
            <a:ext cx="164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Capacitor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FBCC309-A6C3-9EB9-6B7A-A14AF2B359F8}"/>
              </a:ext>
            </a:extLst>
          </p:cNvPr>
          <p:cNvSpPr txBox="1"/>
          <p:nvPr/>
        </p:nvSpPr>
        <p:spPr>
          <a:xfrm>
            <a:off x="7852527" y="2148378"/>
            <a:ext cx="1001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 pin: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0032C2-473D-1C1F-1EDF-C18711914909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6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84024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B15DF-799E-638D-C034-CA34B5AB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C2E664E-ECBA-1E36-D118-098A85B8C123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7C2AD8-A1C5-3DF8-2CD4-2F3457DBAC3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41542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Overview</a:t>
            </a: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 Microcontroller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矩形: 圓角 3"/>
          <p:cNvSpPr/>
          <p:nvPr/>
        </p:nvSpPr>
        <p:spPr>
          <a:xfrm>
            <a:off x="3159724" y="276776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MicroBlaze V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矩形: 圓角 4"/>
          <p:cNvSpPr/>
          <p:nvPr/>
        </p:nvSpPr>
        <p:spPr>
          <a:xfrm>
            <a:off x="1533604" y="2767761"/>
            <a:ext cx="106380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Debug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Module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矩形: 圓角 6"/>
          <p:cNvSpPr/>
          <p:nvPr/>
        </p:nvSpPr>
        <p:spPr>
          <a:xfrm>
            <a:off x="6096000" y="2725266"/>
            <a:ext cx="3492360" cy="81180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GPIO * 7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矩形: 圓角 7"/>
          <p:cNvSpPr/>
          <p:nvPr/>
        </p:nvSpPr>
        <p:spPr>
          <a:xfrm>
            <a:off x="5626749" y="504659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AXI Timer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5" name="直線單箭頭接點 11"/>
          <p:cNvCxnSpPr>
            <a:stCxn id="71" idx="3"/>
            <a:endCxn id="70" idx="1"/>
          </p:cNvCxnSpPr>
          <p:nvPr/>
        </p:nvCxnSpPr>
        <p:spPr>
          <a:xfrm>
            <a:off x="2597404" y="3175281"/>
            <a:ext cx="562680" cy="36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76" name="矩形 12"/>
          <p:cNvSpPr/>
          <p:nvPr/>
        </p:nvSpPr>
        <p:spPr>
          <a:xfrm>
            <a:off x="197290" y="4187601"/>
            <a:ext cx="11476434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7" name="直線單箭頭接點 14"/>
          <p:cNvCxnSpPr>
            <a:cxnSpLocks/>
          </p:cNvCxnSpPr>
          <p:nvPr/>
        </p:nvCxnSpPr>
        <p:spPr>
          <a:xfrm flipV="1">
            <a:off x="6351640" y="2443008"/>
            <a:ext cx="0" cy="285835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cxnSp>
        <p:nvCxnSpPr>
          <p:cNvPr id="78" name="直線單箭頭接點 15"/>
          <p:cNvCxnSpPr>
            <a:cxnSpLocks/>
          </p:cNvCxnSpPr>
          <p:nvPr/>
        </p:nvCxnSpPr>
        <p:spPr>
          <a:xfrm flipV="1">
            <a:off x="7832871" y="2443008"/>
            <a:ext cx="0" cy="282258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79" name="箭號: 向下 18"/>
          <p:cNvSpPr/>
          <p:nvPr/>
        </p:nvSpPr>
        <p:spPr>
          <a:xfrm>
            <a:off x="3720964" y="3660561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1" name="箭號: 向下 20"/>
          <p:cNvSpPr/>
          <p:nvPr/>
        </p:nvSpPr>
        <p:spPr>
          <a:xfrm rot="10800000">
            <a:off x="6108069" y="4510558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2" name="箭號: 向下 21"/>
          <p:cNvSpPr/>
          <p:nvPr/>
        </p:nvSpPr>
        <p:spPr>
          <a:xfrm>
            <a:off x="7679407" y="3643266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 dirty="0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3" name="文字方塊 22"/>
          <p:cNvSpPr/>
          <p:nvPr/>
        </p:nvSpPr>
        <p:spPr>
          <a:xfrm>
            <a:off x="5659332" y="1540686"/>
            <a:ext cx="137304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On-Board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LED /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RGB LED /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Button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矩形: 圓角 23"/>
          <p:cNvSpPr/>
          <p:nvPr/>
        </p:nvSpPr>
        <p:spPr>
          <a:xfrm>
            <a:off x="928804" y="5044913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箭號: 向下 24"/>
          <p:cNvSpPr/>
          <p:nvPr/>
        </p:nvSpPr>
        <p:spPr>
          <a:xfrm rot="10800000">
            <a:off x="1409044" y="4485563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6" name="文字方塊 27"/>
          <p:cNvSpPr/>
          <p:nvPr/>
        </p:nvSpPr>
        <p:spPr>
          <a:xfrm>
            <a:off x="238324" y="3023721"/>
            <a:ext cx="6472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JTAG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7" name="直線單箭頭接點 32"/>
          <p:cNvCxnSpPr/>
          <p:nvPr/>
        </p:nvCxnSpPr>
        <p:spPr>
          <a:xfrm flipV="1">
            <a:off x="885604" y="3088161"/>
            <a:ext cx="648720" cy="828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cxnSp>
        <p:nvCxnSpPr>
          <p:cNvPr id="88" name="直線單箭頭接點 33"/>
          <p:cNvCxnSpPr/>
          <p:nvPr/>
        </p:nvCxnSpPr>
        <p:spPr>
          <a:xfrm flipH="1">
            <a:off x="885604" y="3303801"/>
            <a:ext cx="648720" cy="72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89" name="矩形: 圓角 40"/>
          <p:cNvSpPr/>
          <p:nvPr/>
        </p:nvSpPr>
        <p:spPr>
          <a:xfrm>
            <a:off x="3159724" y="162224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Local Memory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Bus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" name="直線單箭頭接點 43"/>
          <p:cNvCxnSpPr>
            <a:stCxn id="89" idx="2"/>
            <a:endCxn id="70" idx="0"/>
          </p:cNvCxnSpPr>
          <p:nvPr/>
        </p:nvCxnSpPr>
        <p:spPr>
          <a:xfrm>
            <a:off x="3918964" y="2437281"/>
            <a:ext cx="360" cy="33084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91" name="矩形: 圓角 44"/>
          <p:cNvSpPr/>
          <p:nvPr/>
        </p:nvSpPr>
        <p:spPr>
          <a:xfrm>
            <a:off x="1318684" y="1623321"/>
            <a:ext cx="1518840" cy="81504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Data Mem /</a:t>
            </a:r>
            <a:endParaRPr lang="en-US" sz="1400" spc="-1" dirty="0">
              <a:solidFill>
                <a:schemeClr val="dk1"/>
              </a:solidFill>
              <a:latin typeface="Arial"/>
              <a:ea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</a:rPr>
              <a:t>Inst Mem /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Shared 128KB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4" name="直線單箭頭接點 51"/>
          <p:cNvCxnSpPr>
            <a:stCxn id="91" idx="3"/>
            <a:endCxn id="89" idx="1"/>
          </p:cNvCxnSpPr>
          <p:nvPr/>
        </p:nvCxnSpPr>
        <p:spPr>
          <a:xfrm flipV="1">
            <a:off x="2837524" y="2029761"/>
            <a:ext cx="322560" cy="144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2" name="文字方塊 22">
            <a:extLst>
              <a:ext uri="{FF2B5EF4-FFF2-40B4-BE49-F238E27FC236}">
                <a16:creationId xmlns:a16="http://schemas.microsoft.com/office/drawing/2014/main" id="{8EED83EF-6786-DE62-0C19-C4A9B1A310D8}"/>
              </a:ext>
            </a:extLst>
          </p:cNvPr>
          <p:cNvSpPr/>
          <p:nvPr/>
        </p:nvSpPr>
        <p:spPr>
          <a:xfrm>
            <a:off x="6667370" y="1540338"/>
            <a:ext cx="2331002" cy="11680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GPIO</a:t>
            </a:r>
            <a:r>
              <a:rPr lang="zh-TW" altLang="en-US" sz="1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pin*28</a:t>
            </a:r>
          </a:p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GPIO_A0 ~ GPIO_A6</a:t>
            </a:r>
          </a:p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……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rgbClr val="000000"/>
                </a:solidFill>
                <a:latin typeface="Arial"/>
              </a:rPr>
              <a:t>GPIO_D0 ~ GPIO_D6</a:t>
            </a:r>
            <a:endParaRPr lang="en-US" altLang="zh-TW" sz="14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" name="直線單箭頭接點 15">
            <a:extLst>
              <a:ext uri="{FF2B5EF4-FFF2-40B4-BE49-F238E27FC236}">
                <a16:creationId xmlns:a16="http://schemas.microsoft.com/office/drawing/2014/main" id="{1F863F21-A549-5CC8-C6E3-B8EEF5627504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9477353" y="2492991"/>
            <a:ext cx="0" cy="23180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4" name="文字方塊 22">
            <a:extLst>
              <a:ext uri="{FF2B5EF4-FFF2-40B4-BE49-F238E27FC236}">
                <a16:creationId xmlns:a16="http://schemas.microsoft.com/office/drawing/2014/main" id="{2DCA4971-A687-BDBC-714D-41F50C1A1FFE}"/>
              </a:ext>
            </a:extLst>
          </p:cNvPr>
          <p:cNvSpPr/>
          <p:nvPr/>
        </p:nvSpPr>
        <p:spPr>
          <a:xfrm>
            <a:off x="8790833" y="1540338"/>
            <a:ext cx="137304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rgbClr val="000000"/>
                </a:solidFill>
                <a:latin typeface="Arial"/>
              </a:rPr>
              <a:t>Interrupt pin*4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INTR_0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……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INTR_3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矩形: 圓角 23">
            <a:extLst>
              <a:ext uri="{FF2B5EF4-FFF2-40B4-BE49-F238E27FC236}">
                <a16:creationId xmlns:a16="http://schemas.microsoft.com/office/drawing/2014/main" id="{93CC8D8F-68C5-1A36-8589-386F1907AD55}"/>
              </a:ext>
            </a:extLst>
          </p:cNvPr>
          <p:cNvSpPr/>
          <p:nvPr/>
        </p:nvSpPr>
        <p:spPr>
          <a:xfrm>
            <a:off x="1117646" y="5138357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 * 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文字方塊 22">
            <a:extLst>
              <a:ext uri="{FF2B5EF4-FFF2-40B4-BE49-F238E27FC236}">
                <a16:creationId xmlns:a16="http://schemas.microsoft.com/office/drawing/2014/main" id="{2537A16C-E944-9B15-E5C2-A2C914754857}"/>
              </a:ext>
            </a:extLst>
          </p:cNvPr>
          <p:cNvSpPr/>
          <p:nvPr/>
        </p:nvSpPr>
        <p:spPr>
          <a:xfrm>
            <a:off x="-261710" y="6522187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spc="-1" dirty="0">
                <a:solidFill>
                  <a:srgbClr val="000000"/>
                </a:solidFill>
              </a:rPr>
              <a:t>USB-UART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/ UART_R</a:t>
            </a:r>
            <a:r>
              <a:rPr lang="en-US" sz="1400" spc="-1" dirty="0">
                <a:solidFill>
                  <a:srgbClr val="000000"/>
                </a:solidFill>
                <a:latin typeface="Arial"/>
              </a:rPr>
              <a:t>X / UART_TX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" name="直線單箭頭接點 14">
            <a:extLst>
              <a:ext uri="{FF2B5EF4-FFF2-40B4-BE49-F238E27FC236}">
                <a16:creationId xmlns:a16="http://schemas.microsoft.com/office/drawing/2014/main" id="{05C3C905-9D9F-9A22-5D93-4D07EB1BF6B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1722446" y="6183437"/>
            <a:ext cx="0" cy="33875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20" name="矩形: 圓角 23">
            <a:extLst>
              <a:ext uri="{FF2B5EF4-FFF2-40B4-BE49-F238E27FC236}">
                <a16:creationId xmlns:a16="http://schemas.microsoft.com/office/drawing/2014/main" id="{0E1BC371-B57C-D3F5-E397-E842BC7D0980}"/>
              </a:ext>
            </a:extLst>
          </p:cNvPr>
          <p:cNvSpPr/>
          <p:nvPr/>
        </p:nvSpPr>
        <p:spPr>
          <a:xfrm>
            <a:off x="2522163" y="5096263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</a:rPr>
              <a:t>EMC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箭號: 向下 24">
            <a:extLst>
              <a:ext uri="{FF2B5EF4-FFF2-40B4-BE49-F238E27FC236}">
                <a16:creationId xmlns:a16="http://schemas.microsoft.com/office/drawing/2014/main" id="{1571C252-84DC-AE1D-F6AC-165974568586}"/>
              </a:ext>
            </a:extLst>
          </p:cNvPr>
          <p:cNvSpPr/>
          <p:nvPr/>
        </p:nvSpPr>
        <p:spPr>
          <a:xfrm rot="10800000">
            <a:off x="3002403" y="4510558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2" name="矩形: 圓角 7">
            <a:extLst>
              <a:ext uri="{FF2B5EF4-FFF2-40B4-BE49-F238E27FC236}">
                <a16:creationId xmlns:a16="http://schemas.microsoft.com/office/drawing/2014/main" id="{3CD0F37B-9DA2-D176-A81E-E939E0E21476}"/>
              </a:ext>
            </a:extLst>
          </p:cNvPr>
          <p:cNvSpPr/>
          <p:nvPr/>
        </p:nvSpPr>
        <p:spPr>
          <a:xfrm>
            <a:off x="5779149" y="519899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Arial"/>
                <a:ea typeface="Arial"/>
              </a:rPr>
              <a:t>AXI Timer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矩形: 圓角 23">
            <a:extLst>
              <a:ext uri="{FF2B5EF4-FFF2-40B4-BE49-F238E27FC236}">
                <a16:creationId xmlns:a16="http://schemas.microsoft.com/office/drawing/2014/main" id="{E96307AD-B419-E9A2-D850-7104ADA12FBB}"/>
              </a:ext>
            </a:extLst>
          </p:cNvPr>
          <p:cNvSpPr/>
          <p:nvPr/>
        </p:nvSpPr>
        <p:spPr>
          <a:xfrm>
            <a:off x="4039163" y="5096263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SRAM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512KB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4" name="直線單箭頭接點 48">
            <a:extLst>
              <a:ext uri="{FF2B5EF4-FFF2-40B4-BE49-F238E27FC236}">
                <a16:creationId xmlns:a16="http://schemas.microsoft.com/office/drawing/2014/main" id="{AAECC454-CF63-C6AD-AF6F-8D6B3422BA87}"/>
              </a:ext>
            </a:extLst>
          </p:cNvPr>
          <p:cNvCxnSpPr>
            <a:cxnSpLocks/>
            <a:stCxn id="23" idx="1"/>
            <a:endCxn id="20" idx="3"/>
          </p:cNvCxnSpPr>
          <p:nvPr/>
        </p:nvCxnSpPr>
        <p:spPr>
          <a:xfrm flipH="1">
            <a:off x="3731763" y="5618803"/>
            <a:ext cx="307400" cy="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36" name="矩形: 圓角 7">
            <a:extLst>
              <a:ext uri="{FF2B5EF4-FFF2-40B4-BE49-F238E27FC236}">
                <a16:creationId xmlns:a16="http://schemas.microsoft.com/office/drawing/2014/main" id="{AD1C6C7A-1D74-BC78-85FF-55DDBC96EF90}"/>
              </a:ext>
            </a:extLst>
          </p:cNvPr>
          <p:cNvSpPr/>
          <p:nvPr/>
        </p:nvSpPr>
        <p:spPr>
          <a:xfrm>
            <a:off x="5931549" y="535139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6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1" name="直線單箭頭接點 14">
            <a:extLst>
              <a:ext uri="{FF2B5EF4-FFF2-40B4-BE49-F238E27FC236}">
                <a16:creationId xmlns:a16="http://schemas.microsoft.com/office/drawing/2014/main" id="{97F12786-E992-176A-A299-FCE60215DAF4}"/>
              </a:ext>
            </a:extLst>
          </p:cNvPr>
          <p:cNvCxnSpPr>
            <a:cxnSpLocks/>
          </p:cNvCxnSpPr>
          <p:nvPr/>
        </p:nvCxnSpPr>
        <p:spPr>
          <a:xfrm>
            <a:off x="6490756" y="6396478"/>
            <a:ext cx="0" cy="170277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63" name="文字方塊 22">
            <a:extLst>
              <a:ext uri="{FF2B5EF4-FFF2-40B4-BE49-F238E27FC236}">
                <a16:creationId xmlns:a16="http://schemas.microsoft.com/office/drawing/2014/main" id="{9F64AD77-728F-8091-ED23-3F0BE579DCF1}"/>
              </a:ext>
            </a:extLst>
          </p:cNvPr>
          <p:cNvSpPr/>
          <p:nvPr/>
        </p:nvSpPr>
        <p:spPr>
          <a:xfrm>
            <a:off x="4510109" y="6551677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PWM</a:t>
            </a: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_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0 ~ PWM</a:t>
            </a: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_2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箭號: 向下 20">
            <a:extLst>
              <a:ext uri="{FF2B5EF4-FFF2-40B4-BE49-F238E27FC236}">
                <a16:creationId xmlns:a16="http://schemas.microsoft.com/office/drawing/2014/main" id="{CAB304BD-ACCA-8743-CCCC-1FCDAFA90F3C}"/>
              </a:ext>
            </a:extLst>
          </p:cNvPr>
          <p:cNvSpPr/>
          <p:nvPr/>
        </p:nvSpPr>
        <p:spPr>
          <a:xfrm rot="10800000">
            <a:off x="7820135" y="4505855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65" name="矩形: 圓角 23">
            <a:extLst>
              <a:ext uri="{FF2B5EF4-FFF2-40B4-BE49-F238E27FC236}">
                <a16:creationId xmlns:a16="http://schemas.microsoft.com/office/drawing/2014/main" id="{84D86F3F-5693-67BE-3F09-3BFE184E8E2F}"/>
              </a:ext>
            </a:extLst>
          </p:cNvPr>
          <p:cNvSpPr/>
          <p:nvPr/>
        </p:nvSpPr>
        <p:spPr>
          <a:xfrm>
            <a:off x="7366735" y="509756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</a:rPr>
              <a:t>Quad-SPI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矩形: 圓角 23">
            <a:extLst>
              <a:ext uri="{FF2B5EF4-FFF2-40B4-BE49-F238E27FC236}">
                <a16:creationId xmlns:a16="http://schemas.microsoft.com/office/drawing/2014/main" id="{631FA26B-FA41-A9C7-3023-64348F6D51EF}"/>
              </a:ext>
            </a:extLst>
          </p:cNvPr>
          <p:cNvSpPr/>
          <p:nvPr/>
        </p:nvSpPr>
        <p:spPr>
          <a:xfrm>
            <a:off x="8856407" y="509756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Flash</a:t>
            </a:r>
          </a:p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4MB</a:t>
            </a:r>
          </a:p>
        </p:txBody>
      </p:sp>
      <p:cxnSp>
        <p:nvCxnSpPr>
          <p:cNvPr id="67" name="直線單箭頭接點 48">
            <a:extLst>
              <a:ext uri="{FF2B5EF4-FFF2-40B4-BE49-F238E27FC236}">
                <a16:creationId xmlns:a16="http://schemas.microsoft.com/office/drawing/2014/main" id="{70D58A8C-FC41-A1E5-288E-2675A1821F65}"/>
              </a:ext>
            </a:extLst>
          </p:cNvPr>
          <p:cNvCxnSpPr>
            <a:cxnSpLocks/>
            <a:stCxn id="66" idx="1"/>
            <a:endCxn id="65" idx="3"/>
          </p:cNvCxnSpPr>
          <p:nvPr/>
        </p:nvCxnSpPr>
        <p:spPr>
          <a:xfrm flipH="1">
            <a:off x="8576335" y="5620100"/>
            <a:ext cx="280072" cy="0"/>
          </a:xfrm>
          <a:prstGeom prst="straightConnector1">
            <a:avLst/>
          </a:prstGeom>
          <a:ln w="28575">
            <a:solidFill>
              <a:srgbClr val="000000"/>
            </a:solidFill>
            <a:round/>
            <a:headEnd type="arrow" w="med" len="med"/>
            <a:tailEnd type="arrow" w="med" len="med"/>
          </a:ln>
        </p:spPr>
      </p:cxnSp>
      <p:sp>
        <p:nvSpPr>
          <p:cNvPr id="97" name="矩形: 圓角 23">
            <a:extLst>
              <a:ext uri="{FF2B5EF4-FFF2-40B4-BE49-F238E27FC236}">
                <a16:creationId xmlns:a16="http://schemas.microsoft.com/office/drawing/2014/main" id="{AEC72BD8-9FAC-F5CF-41EC-7310309AE2B4}"/>
              </a:ext>
            </a:extLst>
          </p:cNvPr>
          <p:cNvSpPr/>
          <p:nvPr/>
        </p:nvSpPr>
        <p:spPr>
          <a:xfrm>
            <a:off x="10461374" y="5096263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AFA9E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XADC</a:t>
            </a:r>
            <a:endParaRPr lang="en-US" sz="14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98" name="箭號: 向下 24">
            <a:extLst>
              <a:ext uri="{FF2B5EF4-FFF2-40B4-BE49-F238E27FC236}">
                <a16:creationId xmlns:a16="http://schemas.microsoft.com/office/drawing/2014/main" id="{14AC65FC-3D02-7228-ABD3-81C9634C06CA}"/>
              </a:ext>
            </a:extLst>
          </p:cNvPr>
          <p:cNvSpPr/>
          <p:nvPr/>
        </p:nvSpPr>
        <p:spPr>
          <a:xfrm rot="10800000">
            <a:off x="10941614" y="4510558"/>
            <a:ext cx="249120" cy="4795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cxnSp>
        <p:nvCxnSpPr>
          <p:cNvPr id="99" name="直線單箭頭接點 14">
            <a:extLst>
              <a:ext uri="{FF2B5EF4-FFF2-40B4-BE49-F238E27FC236}">
                <a16:creationId xmlns:a16="http://schemas.microsoft.com/office/drawing/2014/main" id="{3208B2BB-4CEF-C9E8-9A01-2C47D408A4A3}"/>
              </a:ext>
            </a:extLst>
          </p:cNvPr>
          <p:cNvCxnSpPr>
            <a:cxnSpLocks/>
            <a:stCxn id="97" idx="2"/>
            <a:endCxn id="100" idx="0"/>
          </p:cNvCxnSpPr>
          <p:nvPr/>
        </p:nvCxnSpPr>
        <p:spPr>
          <a:xfrm>
            <a:off x="11066174" y="6141343"/>
            <a:ext cx="0" cy="380843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100" name="文字方塊 22">
            <a:extLst>
              <a:ext uri="{FF2B5EF4-FFF2-40B4-BE49-F238E27FC236}">
                <a16:creationId xmlns:a16="http://schemas.microsoft.com/office/drawing/2014/main" id="{E3FC18B7-03B7-E5E0-0495-E3C4E803DDB4}"/>
              </a:ext>
            </a:extLst>
          </p:cNvPr>
          <p:cNvSpPr/>
          <p:nvPr/>
        </p:nvSpPr>
        <p:spPr>
          <a:xfrm>
            <a:off x="9082018" y="6522186"/>
            <a:ext cx="39683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ADC_0 / ADC_1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0CACE-C115-81D7-ECFE-1E67B74E90A9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8</a:t>
            </a:fld>
            <a:endParaRPr lang="en-TW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1CBEE-344E-4473-44B9-BC4555CCD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C8B1B4-C4CF-32E2-281A-8D71EAB2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Memory-Mapped I/O vs SFR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F33343-238B-E602-E1A4-D78BF8167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Memory-Mapped I/O (MMIO): 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Peripherals are mapped into the memory address space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Accessed using normal load/store instructions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integrate and extend (add new devices by assigning new addresses)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SFR (Special Function Registers) in traditional MCUs (e.g., PIC): 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Peripheral control uses dedicated special registers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requires bank selection / bit-level control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flexible when scaling to more peripherals</a:t>
            </a:r>
          </a:p>
        </p:txBody>
      </p:sp>
    </p:spTree>
    <p:extLst>
      <p:ext uri="{BB962C8B-B14F-4D97-AF65-F5344CB8AC3E}">
        <p14:creationId xmlns:p14="http://schemas.microsoft.com/office/powerpoint/2010/main" val="2803053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883E-C9AB-0CAE-0BBB-12C92804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BEBA76-2919-629E-6585-B915CDBC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AXI Mapping</a:t>
            </a:r>
            <a:endParaRPr lang="en-US" sz="4000" b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8CDDF9-280C-6BDC-C755-4CEC71302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482725"/>
            <a:ext cx="5761037" cy="5113338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each peripheral is mapped to a memory address range,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address region does not correspond to physical RAM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AXI address decoding and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 logic forwards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transactions to the target peripheral’s register interface (MMIO).</a:t>
            </a:r>
          </a:p>
        </p:txBody>
      </p:sp>
      <p:pic>
        <p:nvPicPr>
          <p:cNvPr id="6" name="圖片 5" descr="一張含有 文字, 圖表, 螢幕擷取畫面, 平行 的圖片&#10;&#10;AI 產生的內容可能不正確。">
            <a:extLst>
              <a:ext uri="{FF2B5EF4-FFF2-40B4-BE49-F238E27FC236}">
                <a16:creationId xmlns:a16="http://schemas.microsoft.com/office/drawing/2014/main" id="{24751282-FBD7-F506-7998-893B5B9A1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0" y="1906172"/>
            <a:ext cx="5640959" cy="383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54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9544B-35C9-B391-3360-F351F557D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5BC7E671-DF55-A170-04FB-150D0A864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Overview</a:t>
            </a: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 Microcontroller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1755C5B-BC04-87BB-5F45-E5591ED74F4B}"/>
              </a:ext>
            </a:extLst>
          </p:cNvPr>
          <p:cNvSpPr txBox="1"/>
          <p:nvPr/>
        </p:nvSpPr>
        <p:spPr>
          <a:xfrm>
            <a:off x="676554" y="1749465"/>
            <a:ext cx="998372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Processor: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MicroBlaze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RISC-V, 32-bit, Single 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MHz (12 MHz OSC → Clocking Wizard PLL)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 Extensions: RV32IM_Zba_Zbb_Zbc_Zbs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Memory: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 KB BRAM (ILMB + DLMB)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Cache: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Disabled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(I-Cache &amp; D-Cache both off)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Debug: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MDM JTAG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breakpoints, register, memory R/W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 INTC, 6 sources (3 Timer + 2 UART + 1 GPIO)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D79534-F750-4E56-F25D-66E7675CB53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11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130294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0ADC3-7AED-568C-BA44-0C40F3B4E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51AD9AB-62FE-AEBC-A3A7-677181D67024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095EE9-3FCE-BA12-74FB-F8DD03B789A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05329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C8462-C43F-E9EA-D127-4C195C2A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9DBA6B44-6775-867E-1F31-A1EEDDA55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GPIO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313F560E-E749-52CC-8F64-F7B1BF99A4CA}"/>
              </a:ext>
            </a:extLst>
          </p:cNvPr>
          <p:cNvSpPr/>
          <p:nvPr/>
        </p:nvSpPr>
        <p:spPr>
          <a:xfrm rot="16200000">
            <a:off x="-1109822" y="3944808"/>
            <a:ext cx="5255491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矩形: 圓角 6">
            <a:extLst>
              <a:ext uri="{FF2B5EF4-FFF2-40B4-BE49-F238E27FC236}">
                <a16:creationId xmlns:a16="http://schemas.microsoft.com/office/drawing/2014/main" id="{FDB0D2F4-683D-9B37-37CD-CE9776DEBD5D}"/>
              </a:ext>
            </a:extLst>
          </p:cNvPr>
          <p:cNvSpPr/>
          <p:nvPr/>
        </p:nvSpPr>
        <p:spPr>
          <a:xfrm>
            <a:off x="2374208" y="2273575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pio_B_0_6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矩形: 圓角 6">
            <a:extLst>
              <a:ext uri="{FF2B5EF4-FFF2-40B4-BE49-F238E27FC236}">
                <a16:creationId xmlns:a16="http://schemas.microsoft.com/office/drawing/2014/main" id="{7D86F638-53B7-FBB7-BB70-1AE014CB954C}"/>
              </a:ext>
            </a:extLst>
          </p:cNvPr>
          <p:cNvSpPr/>
          <p:nvPr/>
        </p:nvSpPr>
        <p:spPr>
          <a:xfrm>
            <a:off x="2374208" y="1622574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pio_A_0_6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68B26E7-769B-193F-2BB0-683B416D7B7C}"/>
              </a:ext>
            </a:extLst>
          </p:cNvPr>
          <p:cNvSpPr/>
          <p:nvPr/>
        </p:nvSpPr>
        <p:spPr>
          <a:xfrm>
            <a:off x="2374208" y="2924576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pio_C_0_6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矩形: 圓角 6">
            <a:extLst>
              <a:ext uri="{FF2B5EF4-FFF2-40B4-BE49-F238E27FC236}">
                <a16:creationId xmlns:a16="http://schemas.microsoft.com/office/drawing/2014/main" id="{2EFB9D37-D71B-A6A0-5A1C-BE4476A3DC4D}"/>
              </a:ext>
            </a:extLst>
          </p:cNvPr>
          <p:cNvSpPr/>
          <p:nvPr/>
        </p:nvSpPr>
        <p:spPr>
          <a:xfrm>
            <a:off x="2374207" y="6179581"/>
            <a:ext cx="1565587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INT_0_3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矩形: 圓角 6">
            <a:extLst>
              <a:ext uri="{FF2B5EF4-FFF2-40B4-BE49-F238E27FC236}">
                <a16:creationId xmlns:a16="http://schemas.microsoft.com/office/drawing/2014/main" id="{3E4FB514-0861-C5E6-A815-094CAB3AE3B8}"/>
              </a:ext>
            </a:extLst>
          </p:cNvPr>
          <p:cNvSpPr/>
          <p:nvPr/>
        </p:nvSpPr>
        <p:spPr>
          <a:xfrm>
            <a:off x="2374207" y="5528580"/>
            <a:ext cx="1565587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chemeClr val="dk1"/>
                </a:solidFill>
                <a:latin typeface="Arial"/>
                <a:ea typeface="Arial"/>
              </a:rPr>
              <a:t>board_button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矩形: 圓角 6">
            <a:extLst>
              <a:ext uri="{FF2B5EF4-FFF2-40B4-BE49-F238E27FC236}">
                <a16:creationId xmlns:a16="http://schemas.microsoft.com/office/drawing/2014/main" id="{A4B7AEA9-036B-F357-551B-DF8F92650373}"/>
              </a:ext>
            </a:extLst>
          </p:cNvPr>
          <p:cNvSpPr/>
          <p:nvPr/>
        </p:nvSpPr>
        <p:spPr>
          <a:xfrm>
            <a:off x="2374208" y="4877579"/>
            <a:ext cx="1565588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 err="1">
                <a:solidFill>
                  <a:srgbClr val="000000"/>
                </a:solidFill>
                <a:latin typeface="Arial"/>
              </a:rPr>
              <a:t>b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</a:rPr>
              <a:t>oard_rgb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矩形: 圓角 6">
            <a:extLst>
              <a:ext uri="{FF2B5EF4-FFF2-40B4-BE49-F238E27FC236}">
                <a16:creationId xmlns:a16="http://schemas.microsoft.com/office/drawing/2014/main" id="{16A8153A-02EA-E048-23EE-6850B081E8B2}"/>
              </a:ext>
            </a:extLst>
          </p:cNvPr>
          <p:cNvSpPr/>
          <p:nvPr/>
        </p:nvSpPr>
        <p:spPr>
          <a:xfrm>
            <a:off x="2374207" y="4226578"/>
            <a:ext cx="1565590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b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oard_led_2bits</a:t>
            </a:r>
          </a:p>
        </p:txBody>
      </p:sp>
      <p:sp>
        <p:nvSpPr>
          <p:cNvPr id="12" name="矩形: 圓角 6">
            <a:extLst>
              <a:ext uri="{FF2B5EF4-FFF2-40B4-BE49-F238E27FC236}">
                <a16:creationId xmlns:a16="http://schemas.microsoft.com/office/drawing/2014/main" id="{9ABD357E-7620-7280-3F1F-C6980EDCFDCC}"/>
              </a:ext>
            </a:extLst>
          </p:cNvPr>
          <p:cNvSpPr/>
          <p:nvPr/>
        </p:nvSpPr>
        <p:spPr>
          <a:xfrm>
            <a:off x="2374207" y="3575577"/>
            <a:ext cx="1565589" cy="424927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pio_D_0_6 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箭號: 左-右雙向 12">
            <a:extLst>
              <a:ext uri="{FF2B5EF4-FFF2-40B4-BE49-F238E27FC236}">
                <a16:creationId xmlns:a16="http://schemas.microsoft.com/office/drawing/2014/main" id="{05D0F98D-04FF-23DD-7CF3-4073491E6E20}"/>
              </a:ext>
            </a:extLst>
          </p:cNvPr>
          <p:cNvSpPr/>
          <p:nvPr/>
        </p:nvSpPr>
        <p:spPr>
          <a:xfrm>
            <a:off x="1688835" y="3859784"/>
            <a:ext cx="641900" cy="424927"/>
          </a:xfrm>
          <a:prstGeom prst="left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C6962E10-D259-93A7-C51A-C7E0CBAB5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767" y="213893"/>
            <a:ext cx="7152232" cy="246977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1147095D-9A2E-5B32-DB24-968674E8A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767" y="2789036"/>
            <a:ext cx="7152233" cy="2739544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F4F78927-784B-8083-C9FE-52096C18D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764" y="4997051"/>
            <a:ext cx="7143551" cy="183168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3657CB-D09E-4293-DDDA-D96BC06E50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20067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91831-2A4C-DF65-567C-EE4D1100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88F64A03-2CB4-0443-D6BF-EF2E219B8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Timer &amp; PWM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B73EC499-2E25-D0CE-FF66-8E24EDC6E0A0}"/>
              </a:ext>
            </a:extLst>
          </p:cNvPr>
          <p:cNvSpPr/>
          <p:nvPr/>
        </p:nvSpPr>
        <p:spPr>
          <a:xfrm rot="16200000">
            <a:off x="-1831771" y="3985694"/>
            <a:ext cx="4367745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矩形: 圓角 7">
            <a:extLst>
              <a:ext uri="{FF2B5EF4-FFF2-40B4-BE49-F238E27FC236}">
                <a16:creationId xmlns:a16="http://schemas.microsoft.com/office/drawing/2014/main" id="{DA963C86-4AF0-F188-C28F-B45DDF0D177B}"/>
              </a:ext>
            </a:extLst>
          </p:cNvPr>
          <p:cNvSpPr/>
          <p:nvPr/>
        </p:nvSpPr>
        <p:spPr>
          <a:xfrm>
            <a:off x="5442408" y="1929261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矩形: 圓角 7">
            <a:extLst>
              <a:ext uri="{FF2B5EF4-FFF2-40B4-BE49-F238E27FC236}">
                <a16:creationId xmlns:a16="http://schemas.microsoft.com/office/drawing/2014/main" id="{0D078FA6-F4E3-A452-94C1-B5246FA49933}"/>
              </a:ext>
            </a:extLst>
          </p:cNvPr>
          <p:cNvSpPr/>
          <p:nvPr/>
        </p:nvSpPr>
        <p:spPr>
          <a:xfrm>
            <a:off x="1757538" y="3547954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RISC-V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Core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矩形: 圓角 7">
            <a:extLst>
              <a:ext uri="{FF2B5EF4-FFF2-40B4-BE49-F238E27FC236}">
                <a16:creationId xmlns:a16="http://schemas.microsoft.com/office/drawing/2014/main" id="{1563438C-8107-06E5-0ECA-3DE53EB058C8}"/>
              </a:ext>
            </a:extLst>
          </p:cNvPr>
          <p:cNvSpPr/>
          <p:nvPr/>
        </p:nvSpPr>
        <p:spPr>
          <a:xfrm>
            <a:off x="1757538" y="1934442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/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Interrupt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Controller</a:t>
            </a:r>
          </a:p>
        </p:txBody>
      </p:sp>
      <p:sp>
        <p:nvSpPr>
          <p:cNvPr id="5" name="矩形: 圓角 7">
            <a:extLst>
              <a:ext uri="{FF2B5EF4-FFF2-40B4-BE49-F238E27FC236}">
                <a16:creationId xmlns:a16="http://schemas.microsoft.com/office/drawing/2014/main" id="{9330BF17-07A0-79FA-C755-2A6BF2229D71}"/>
              </a:ext>
            </a:extLst>
          </p:cNvPr>
          <p:cNvSpPr/>
          <p:nvPr/>
        </p:nvSpPr>
        <p:spPr>
          <a:xfrm>
            <a:off x="3500553" y="1934442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</a:rPr>
              <a:t>Concat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矩形: 圓角 7">
            <a:extLst>
              <a:ext uri="{FF2B5EF4-FFF2-40B4-BE49-F238E27FC236}">
                <a16:creationId xmlns:a16="http://schemas.microsoft.com/office/drawing/2014/main" id="{C818A15C-38A4-16FC-2D13-50E819D511FD}"/>
              </a:ext>
            </a:extLst>
          </p:cNvPr>
          <p:cNvSpPr/>
          <p:nvPr/>
        </p:nvSpPr>
        <p:spPr>
          <a:xfrm>
            <a:off x="5594808" y="2081661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矩形: 圓角 7">
            <a:extLst>
              <a:ext uri="{FF2B5EF4-FFF2-40B4-BE49-F238E27FC236}">
                <a16:creationId xmlns:a16="http://schemas.microsoft.com/office/drawing/2014/main" id="{B691A30F-739D-06E5-2FCB-3067AF7E65C5}"/>
              </a:ext>
            </a:extLst>
          </p:cNvPr>
          <p:cNvSpPr/>
          <p:nvPr/>
        </p:nvSpPr>
        <p:spPr>
          <a:xfrm>
            <a:off x="5747208" y="2234061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箭號: 上-下雙向 12">
            <a:extLst>
              <a:ext uri="{FF2B5EF4-FFF2-40B4-BE49-F238E27FC236}">
                <a16:creationId xmlns:a16="http://schemas.microsoft.com/office/drawing/2014/main" id="{77DD55E6-10A3-A358-05C2-3FC6B5B1A026}"/>
              </a:ext>
            </a:extLst>
          </p:cNvPr>
          <p:cNvSpPr/>
          <p:nvPr/>
        </p:nvSpPr>
        <p:spPr>
          <a:xfrm rot="16200000">
            <a:off x="904008" y="2025956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箭號: 上-下雙向 13">
            <a:extLst>
              <a:ext uri="{FF2B5EF4-FFF2-40B4-BE49-F238E27FC236}">
                <a16:creationId xmlns:a16="http://schemas.microsoft.com/office/drawing/2014/main" id="{B05CC935-4A03-0667-8D15-3C9E5F8B1B3D}"/>
              </a:ext>
            </a:extLst>
          </p:cNvPr>
          <p:cNvSpPr/>
          <p:nvPr/>
        </p:nvSpPr>
        <p:spPr>
          <a:xfrm rot="16200000">
            <a:off x="904009" y="3619084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1102D1F-432D-B994-FDCB-8B826B4BB9F9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4710153" y="2451801"/>
            <a:ext cx="732255" cy="5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6D38501C-F889-F2C1-EA45-CFF6C0811FE2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4710153" y="2451801"/>
            <a:ext cx="732255" cy="51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57E6E759-D9AA-0BDF-5071-58008ADB249B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2967138" y="2456982"/>
            <a:ext cx="5334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3029B94A-DCBB-47AA-1C97-E6ED2DE725BD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2362338" y="2979522"/>
            <a:ext cx="0" cy="568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51EE46B-7109-EFE7-A2DD-D5AC6789DB9A}"/>
              </a:ext>
            </a:extLst>
          </p:cNvPr>
          <p:cNvSpPr txBox="1"/>
          <p:nvPr/>
        </p:nvSpPr>
        <p:spPr>
          <a:xfrm>
            <a:off x="2423292" y="307907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irq</a:t>
            </a:r>
            <a:endParaRPr 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5179A49-00D4-6B94-7FC9-59307E45CC03}"/>
              </a:ext>
            </a:extLst>
          </p:cNvPr>
          <p:cNvSpPr/>
          <p:nvPr/>
        </p:nvSpPr>
        <p:spPr>
          <a:xfrm>
            <a:off x="1809299" y="5161466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矩形: 圓角 7">
            <a:extLst>
              <a:ext uri="{FF2B5EF4-FFF2-40B4-BE49-F238E27FC236}">
                <a16:creationId xmlns:a16="http://schemas.microsoft.com/office/drawing/2014/main" id="{1B7FC50E-6A1E-C59E-B57B-7BBF94ED4964}"/>
              </a:ext>
            </a:extLst>
          </p:cNvPr>
          <p:cNvSpPr/>
          <p:nvPr/>
        </p:nvSpPr>
        <p:spPr>
          <a:xfrm>
            <a:off x="1961699" y="5313866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矩形: 圓角 7">
            <a:extLst>
              <a:ext uri="{FF2B5EF4-FFF2-40B4-BE49-F238E27FC236}">
                <a16:creationId xmlns:a16="http://schemas.microsoft.com/office/drawing/2014/main" id="{1F4D3DA4-A97A-76B2-E65C-342FE0B508E1}"/>
              </a:ext>
            </a:extLst>
          </p:cNvPr>
          <p:cNvSpPr/>
          <p:nvPr/>
        </p:nvSpPr>
        <p:spPr>
          <a:xfrm>
            <a:off x="2114099" y="5466266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箭號: 上-下雙向 19">
            <a:extLst>
              <a:ext uri="{FF2B5EF4-FFF2-40B4-BE49-F238E27FC236}">
                <a16:creationId xmlns:a16="http://schemas.microsoft.com/office/drawing/2014/main" id="{F73E14FE-F9BF-6E27-C9E9-598DB87645B2}"/>
              </a:ext>
            </a:extLst>
          </p:cNvPr>
          <p:cNvSpPr/>
          <p:nvPr/>
        </p:nvSpPr>
        <p:spPr>
          <a:xfrm rot="16200000">
            <a:off x="904009" y="5262924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F6507610-05EC-AEC6-98B0-D850BD005037}"/>
              </a:ext>
            </a:extLst>
          </p:cNvPr>
          <p:cNvCxnSpPr>
            <a:cxnSpLocks/>
            <a:stCxn id="16" idx="3"/>
            <a:endCxn id="29" idx="1"/>
          </p:cNvCxnSpPr>
          <p:nvPr/>
        </p:nvCxnSpPr>
        <p:spPr>
          <a:xfrm>
            <a:off x="3323699" y="5988806"/>
            <a:ext cx="6829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38533E5-04CA-EEE2-4A75-CC7C198D07EE}"/>
              </a:ext>
            </a:extLst>
          </p:cNvPr>
          <p:cNvSpPr txBox="1"/>
          <p:nvPr/>
        </p:nvSpPr>
        <p:spPr>
          <a:xfrm>
            <a:off x="4006630" y="5804140"/>
            <a:ext cx="214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PWM_0 ~ PWM_2</a:t>
            </a:r>
            <a:endParaRPr 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B33A72F3-4864-A537-B740-173E5F6AB983}"/>
              </a:ext>
            </a:extLst>
          </p:cNvPr>
          <p:cNvSpPr txBox="1"/>
          <p:nvPr/>
        </p:nvSpPr>
        <p:spPr>
          <a:xfrm>
            <a:off x="7185423" y="1776647"/>
            <a:ext cx="487879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AXI Timer Instances — Two Roles: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× System Timers (timer_0 / timer_1 / timer_2)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to AXI Interrupt Controller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periodic interrupts for scheduling, timeout, or time measurement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× PWM Timers (PWM_0 / PWM1 / PWM_2)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in PWM mode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servo control (SG90)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6 timers are the same IP, the difference is purely in how they are used — interrupt source vs. PWM output.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4793C4-222E-4BC1-CB72-13F3FD4DEE5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14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95621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012D1-F0FF-7EB7-E797-745506D78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C6B8070D-A6BE-BFD9-30C0-33B6542AF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UART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矩形 12">
            <a:extLst>
              <a:ext uri="{FF2B5EF4-FFF2-40B4-BE49-F238E27FC236}">
                <a16:creationId xmlns:a16="http://schemas.microsoft.com/office/drawing/2014/main" id="{9C7DCEBE-7CDA-83B2-3426-76BAAAE03F13}"/>
              </a:ext>
            </a:extLst>
          </p:cNvPr>
          <p:cNvSpPr/>
          <p:nvPr/>
        </p:nvSpPr>
        <p:spPr>
          <a:xfrm rot="16200000">
            <a:off x="-1501832" y="3976268"/>
            <a:ext cx="4367745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箭號: 上-下雙向 14">
            <a:extLst>
              <a:ext uri="{FF2B5EF4-FFF2-40B4-BE49-F238E27FC236}">
                <a16:creationId xmlns:a16="http://schemas.microsoft.com/office/drawing/2014/main" id="{03CC0EE7-32EF-09E8-560E-B31180B8CE08}"/>
              </a:ext>
            </a:extLst>
          </p:cNvPr>
          <p:cNvSpPr/>
          <p:nvPr/>
        </p:nvSpPr>
        <p:spPr>
          <a:xfrm rot="16200000">
            <a:off x="1233947" y="2016530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箭號: 上-下雙向 15">
            <a:extLst>
              <a:ext uri="{FF2B5EF4-FFF2-40B4-BE49-F238E27FC236}">
                <a16:creationId xmlns:a16="http://schemas.microsoft.com/office/drawing/2014/main" id="{095BAD7F-A724-D31B-0A50-76863E2DD21D}"/>
              </a:ext>
            </a:extLst>
          </p:cNvPr>
          <p:cNvSpPr/>
          <p:nvPr/>
        </p:nvSpPr>
        <p:spPr>
          <a:xfrm rot="16200000">
            <a:off x="1233948" y="4995398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矩形: 圓角 23">
            <a:extLst>
              <a:ext uri="{FF2B5EF4-FFF2-40B4-BE49-F238E27FC236}">
                <a16:creationId xmlns:a16="http://schemas.microsoft.com/office/drawing/2014/main" id="{62093F4C-913F-6215-7CAB-2DDC0EB27C95}"/>
              </a:ext>
            </a:extLst>
          </p:cNvPr>
          <p:cNvSpPr/>
          <p:nvPr/>
        </p:nvSpPr>
        <p:spPr>
          <a:xfrm>
            <a:off x="1999995" y="1919835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矩形: 圓角 23">
            <a:extLst>
              <a:ext uri="{FF2B5EF4-FFF2-40B4-BE49-F238E27FC236}">
                <a16:creationId xmlns:a16="http://schemas.microsoft.com/office/drawing/2014/main" id="{F69C6085-5589-54F3-377E-839D25086485}"/>
              </a:ext>
            </a:extLst>
          </p:cNvPr>
          <p:cNvSpPr/>
          <p:nvPr/>
        </p:nvSpPr>
        <p:spPr>
          <a:xfrm>
            <a:off x="1999995" y="492426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 * 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文字方塊 22">
            <a:extLst>
              <a:ext uri="{FF2B5EF4-FFF2-40B4-BE49-F238E27FC236}">
                <a16:creationId xmlns:a16="http://schemas.microsoft.com/office/drawing/2014/main" id="{3BD316AC-9B5D-106F-D34F-74A87F33A669}"/>
              </a:ext>
            </a:extLst>
          </p:cNvPr>
          <p:cNvSpPr/>
          <p:nvPr/>
        </p:nvSpPr>
        <p:spPr>
          <a:xfrm>
            <a:off x="3799002" y="2289213"/>
            <a:ext cx="2064989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UART_R</a:t>
            </a:r>
            <a:r>
              <a:rPr lang="en-US" sz="1400" spc="-1" dirty="0">
                <a:solidFill>
                  <a:srgbClr val="000000"/>
                </a:solidFill>
                <a:latin typeface="Arial"/>
              </a:rPr>
              <a:t>X / UART_TX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" name="直線單箭頭接點 14">
            <a:extLst>
              <a:ext uri="{FF2B5EF4-FFF2-40B4-BE49-F238E27FC236}">
                <a16:creationId xmlns:a16="http://schemas.microsoft.com/office/drawing/2014/main" id="{53BD1B6E-8B14-61E5-B5D3-FA1BEEE1FC87}"/>
              </a:ext>
            </a:extLst>
          </p:cNvPr>
          <p:cNvCxnSpPr>
            <a:cxnSpLocks/>
            <a:stCxn id="20" idx="3"/>
            <a:endCxn id="35" idx="1"/>
          </p:cNvCxnSpPr>
          <p:nvPr/>
        </p:nvCxnSpPr>
        <p:spPr>
          <a:xfrm>
            <a:off x="3209595" y="5446808"/>
            <a:ext cx="599508" cy="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cxnSp>
        <p:nvCxnSpPr>
          <p:cNvPr id="32" name="直線單箭頭接點 14">
            <a:extLst>
              <a:ext uri="{FF2B5EF4-FFF2-40B4-BE49-F238E27FC236}">
                <a16:creationId xmlns:a16="http://schemas.microsoft.com/office/drawing/2014/main" id="{7D30910F-D8E7-2E59-AD42-746234317054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3209595" y="2442375"/>
            <a:ext cx="589407" cy="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35" name="文字方塊 22">
            <a:extLst>
              <a:ext uri="{FF2B5EF4-FFF2-40B4-BE49-F238E27FC236}">
                <a16:creationId xmlns:a16="http://schemas.microsoft.com/office/drawing/2014/main" id="{7CBA17DF-F2D8-945C-758E-C5116574D8E7}"/>
              </a:ext>
            </a:extLst>
          </p:cNvPr>
          <p:cNvSpPr/>
          <p:nvPr/>
        </p:nvSpPr>
        <p:spPr>
          <a:xfrm>
            <a:off x="3809103" y="5293646"/>
            <a:ext cx="1182012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1400" spc="-1" dirty="0">
                <a:solidFill>
                  <a:srgbClr val="000000"/>
                </a:solidFill>
              </a:rPr>
              <a:t>USB-UART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10F817FE-BFD2-0EF6-3A08-B7A51E219AAA}"/>
              </a:ext>
            </a:extLst>
          </p:cNvPr>
          <p:cNvSpPr txBox="1"/>
          <p:nvPr/>
        </p:nvSpPr>
        <p:spPr>
          <a:xfrm>
            <a:off x="5863991" y="2025573"/>
            <a:ext cx="60944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× AXI UART 16550 Instances: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uart_USB</a:t>
            </a:r>
            <a:r>
              <a: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Console / Debug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to on-board USB-UART via Micro-USB (J3)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DIP pin exposed — accessed through USB cable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uart_1 — External Communication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TX/RX routed to DIP Pin 11 / Pin 12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for connecting external devices (sensors, modules, another MCU)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290284-262F-8AD8-F762-8183C341EE4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15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79458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D101-FBEA-B516-1545-8A35DE8D1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E52B92DF-46D0-A0E5-45FC-B1540B61D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XADC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73E57EE-652B-A82C-1DDE-6433E07AE9C9}"/>
              </a:ext>
            </a:extLst>
          </p:cNvPr>
          <p:cNvSpPr txBox="1"/>
          <p:nvPr/>
        </p:nvSpPr>
        <p:spPr>
          <a:xfrm>
            <a:off x="673894" y="1413946"/>
            <a:ext cx="10032294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XADC — On-chip Analog-to-Digital Converter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12-bit ADC inside Artix-7 FPGA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Channels (Continuous Sequencer):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VAUX4 (DIP Pin 15) — external analog input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VAUX12 (DIP Pin 16) — external analog input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— on-chip die temperature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VCCINT — core voltage monitor (1.0 V)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VCCAUX — auxiliary voltage monitor (1.8 V)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Specs: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conversion rate: 500 Kilo Samples Per Second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(KSPS)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Per-channel effective rate: ~100 KSPS (500K ÷ 5 channels)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range: 0–1 V at FPGA pins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(3.3 V on DIP pin scaled by on-board voltage divider)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Resolution: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12-bit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(4096 levels)</a:t>
            </a: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276C320D-B81A-DA4B-8EC1-D6F2BF245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960" y="1844991"/>
            <a:ext cx="5583382" cy="297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F4942A8D-E0DC-6454-52F4-57331A1855B4}"/>
              </a:ext>
            </a:extLst>
          </p:cNvPr>
          <p:cNvSpPr txBox="1"/>
          <p:nvPr/>
        </p:nvSpPr>
        <p:spPr>
          <a:xfrm>
            <a:off x="10985622" y="189448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550A827-1E45-E87F-0D40-6571C1119932}"/>
                  </a:ext>
                </a:extLst>
              </p:cNvPr>
              <p:cNvSpPr txBox="1"/>
              <p:nvPr/>
            </p:nvSpPr>
            <p:spPr>
              <a:xfrm>
                <a:off x="10059980" y="2977007"/>
                <a:ext cx="4854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550A827-1E45-E87F-0D40-6571C1119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9980" y="2977007"/>
                <a:ext cx="485454" cy="276999"/>
              </a:xfrm>
              <a:prstGeom prst="rect">
                <a:avLst/>
              </a:prstGeom>
              <a:blipFill>
                <a:blip r:embed="rId3"/>
                <a:stretch>
                  <a:fillRect l="-10000" r="-250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橢圓 20">
            <a:extLst>
              <a:ext uri="{FF2B5EF4-FFF2-40B4-BE49-F238E27FC236}">
                <a16:creationId xmlns:a16="http://schemas.microsoft.com/office/drawing/2014/main" id="{DDB897D5-62BB-A6F2-216B-819235DF495A}"/>
              </a:ext>
            </a:extLst>
          </p:cNvPr>
          <p:cNvSpPr/>
          <p:nvPr/>
        </p:nvSpPr>
        <p:spPr>
          <a:xfrm>
            <a:off x="9925756" y="3104083"/>
            <a:ext cx="134224" cy="1258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602BC7A5-EE95-57C3-9576-7AF1E48C8856}"/>
              </a:ext>
            </a:extLst>
          </p:cNvPr>
          <p:cNvCxnSpPr>
            <a:cxnSpLocks/>
          </p:cNvCxnSpPr>
          <p:nvPr/>
        </p:nvCxnSpPr>
        <p:spPr>
          <a:xfrm flipV="1">
            <a:off x="7682845" y="4821737"/>
            <a:ext cx="1470582" cy="12114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CB3080-12F5-E088-CE10-AFD14AAAD33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16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70221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962C5-35FB-4D9A-B910-67CDA9F80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65A7F29A-BED8-ADEF-1DC5-B113ECF26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Interrupt</a:t>
            </a:r>
            <a:r>
              <a:rPr lang="zh-TW" alt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 </a:t>
            </a:r>
            <a:r>
              <a:rPr lang="en-US" altLang="zh-TW" sz="4000" b="1" spc="-1" dirty="0">
                <a:solidFill>
                  <a:srgbClr val="DDDDDD"/>
                </a:solidFill>
                <a:latin typeface="Calibri"/>
                <a:ea typeface="Calibri"/>
              </a:rPr>
              <a:t>System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矩形 12">
            <a:extLst>
              <a:ext uri="{FF2B5EF4-FFF2-40B4-BE49-F238E27FC236}">
                <a16:creationId xmlns:a16="http://schemas.microsoft.com/office/drawing/2014/main" id="{F4784BC0-8636-768D-15C1-BB566F7930FC}"/>
              </a:ext>
            </a:extLst>
          </p:cNvPr>
          <p:cNvSpPr/>
          <p:nvPr/>
        </p:nvSpPr>
        <p:spPr>
          <a:xfrm rot="16200000">
            <a:off x="-1921129" y="4042799"/>
            <a:ext cx="4367745" cy="254880"/>
          </a:xfrm>
          <a:prstGeom prst="rect">
            <a:avLst/>
          </a:prstGeom>
          <a:solidFill>
            <a:schemeClr val="tx1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>
                <a:solidFill>
                  <a:schemeClr val="lt1"/>
                </a:solidFill>
                <a:latin typeface="Arial"/>
                <a:ea typeface="Arial"/>
              </a:rPr>
              <a:t>AXI Interconnect (BUS)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矩形: 圓角 7">
            <a:extLst>
              <a:ext uri="{FF2B5EF4-FFF2-40B4-BE49-F238E27FC236}">
                <a16:creationId xmlns:a16="http://schemas.microsoft.com/office/drawing/2014/main" id="{A071B250-DC67-5C0F-A3A6-5D493E72E98A}"/>
              </a:ext>
            </a:extLst>
          </p:cNvPr>
          <p:cNvSpPr/>
          <p:nvPr/>
        </p:nvSpPr>
        <p:spPr>
          <a:xfrm>
            <a:off x="4785744" y="207912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矩形: 圓角 7">
            <a:extLst>
              <a:ext uri="{FF2B5EF4-FFF2-40B4-BE49-F238E27FC236}">
                <a16:creationId xmlns:a16="http://schemas.microsoft.com/office/drawing/2014/main" id="{B3DB2511-DD16-5E19-93C9-4ADFC212D75F}"/>
              </a:ext>
            </a:extLst>
          </p:cNvPr>
          <p:cNvSpPr/>
          <p:nvPr/>
        </p:nvSpPr>
        <p:spPr>
          <a:xfrm>
            <a:off x="1362698" y="4608365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0" strike="noStrike" spc="-1" dirty="0">
                <a:solidFill>
                  <a:srgbClr val="000000"/>
                </a:solidFill>
                <a:latin typeface="Arial"/>
              </a:rPr>
              <a:t>RISC-V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Arial"/>
              </a:rPr>
              <a:t>Core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矩形: 圓角 7">
            <a:extLst>
              <a:ext uri="{FF2B5EF4-FFF2-40B4-BE49-F238E27FC236}">
                <a16:creationId xmlns:a16="http://schemas.microsoft.com/office/drawing/2014/main" id="{A15549A6-1837-4E78-1A3E-B7357020950C}"/>
              </a:ext>
            </a:extLst>
          </p:cNvPr>
          <p:cNvSpPr/>
          <p:nvPr/>
        </p:nvSpPr>
        <p:spPr>
          <a:xfrm>
            <a:off x="1362698" y="2994853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/>
              <a:t>AXI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Interrupt</a:t>
            </a:r>
          </a:p>
          <a:p>
            <a:pPr algn="ctr">
              <a:lnSpc>
                <a:spcPct val="100000"/>
              </a:lnSpc>
            </a:pPr>
            <a:r>
              <a:rPr lang="en-US" sz="1400" dirty="0"/>
              <a:t>Controller</a:t>
            </a:r>
          </a:p>
        </p:txBody>
      </p:sp>
      <p:sp>
        <p:nvSpPr>
          <p:cNvPr id="5" name="矩形: 圓角 7">
            <a:extLst>
              <a:ext uri="{FF2B5EF4-FFF2-40B4-BE49-F238E27FC236}">
                <a16:creationId xmlns:a16="http://schemas.microsoft.com/office/drawing/2014/main" id="{729A4D76-64B5-B230-AF12-9F23C1164B95}"/>
              </a:ext>
            </a:extLst>
          </p:cNvPr>
          <p:cNvSpPr/>
          <p:nvPr/>
        </p:nvSpPr>
        <p:spPr>
          <a:xfrm>
            <a:off x="3105713" y="2994853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bg2">
              <a:lumMod val="60000"/>
              <a:lumOff val="4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 err="1">
                <a:solidFill>
                  <a:srgbClr val="000000"/>
                </a:solidFill>
                <a:latin typeface="Arial"/>
              </a:rPr>
              <a:t>Concat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矩形: 圓角 7">
            <a:extLst>
              <a:ext uri="{FF2B5EF4-FFF2-40B4-BE49-F238E27FC236}">
                <a16:creationId xmlns:a16="http://schemas.microsoft.com/office/drawing/2014/main" id="{A20D8E79-5A1C-46C5-12E4-D1078D4AF899}"/>
              </a:ext>
            </a:extLst>
          </p:cNvPr>
          <p:cNvSpPr/>
          <p:nvPr/>
        </p:nvSpPr>
        <p:spPr>
          <a:xfrm>
            <a:off x="4938144" y="223152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矩形: 圓角 7">
            <a:extLst>
              <a:ext uri="{FF2B5EF4-FFF2-40B4-BE49-F238E27FC236}">
                <a16:creationId xmlns:a16="http://schemas.microsoft.com/office/drawing/2014/main" id="{27EA8936-13A4-647E-AF3B-E317B7AE4F8A}"/>
              </a:ext>
            </a:extLst>
          </p:cNvPr>
          <p:cNvSpPr/>
          <p:nvPr/>
        </p:nvSpPr>
        <p:spPr>
          <a:xfrm>
            <a:off x="5090544" y="2383920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Timer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矩形: 圓角 7">
            <a:extLst>
              <a:ext uri="{FF2B5EF4-FFF2-40B4-BE49-F238E27FC236}">
                <a16:creationId xmlns:a16="http://schemas.microsoft.com/office/drawing/2014/main" id="{A76D9882-91B0-790B-02C1-BA456663A952}"/>
              </a:ext>
            </a:extLst>
          </p:cNvPr>
          <p:cNvSpPr/>
          <p:nvPr/>
        </p:nvSpPr>
        <p:spPr>
          <a:xfrm>
            <a:off x="4785744" y="3616944"/>
            <a:ext cx="1209600" cy="1045080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</a:t>
            </a:r>
            <a:r>
              <a:rPr lang="en-US" sz="1400" spc="-1" dirty="0">
                <a:solidFill>
                  <a:schemeClr val="dk1"/>
                </a:solidFill>
                <a:latin typeface="Arial"/>
                <a:ea typeface="Arial"/>
              </a:rPr>
              <a:t>GPIO</a:t>
            </a: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</a:p>
          <a:p>
            <a:pPr algn="ctr">
              <a:lnSpc>
                <a:spcPct val="100000"/>
              </a:lnSpc>
            </a:pPr>
            <a:r>
              <a:rPr lang="en-US" sz="1400" spc="-1" dirty="0">
                <a:solidFill>
                  <a:schemeClr val="dk1"/>
                </a:solidFill>
                <a:latin typeface="Arial"/>
              </a:rPr>
              <a:t>w intr * 3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箭號: 上-下雙向 12">
            <a:extLst>
              <a:ext uri="{FF2B5EF4-FFF2-40B4-BE49-F238E27FC236}">
                <a16:creationId xmlns:a16="http://schemas.microsoft.com/office/drawing/2014/main" id="{891DF948-B01D-13DB-05BE-01081BCD4588}"/>
              </a:ext>
            </a:extLst>
          </p:cNvPr>
          <p:cNvSpPr/>
          <p:nvPr/>
        </p:nvSpPr>
        <p:spPr>
          <a:xfrm rot="16200000">
            <a:off x="661910" y="3065983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箭號: 上-下雙向 13">
            <a:extLst>
              <a:ext uri="{FF2B5EF4-FFF2-40B4-BE49-F238E27FC236}">
                <a16:creationId xmlns:a16="http://schemas.microsoft.com/office/drawing/2014/main" id="{F0671ADE-A805-4C9D-D176-0013C85F12C8}"/>
              </a:ext>
            </a:extLst>
          </p:cNvPr>
          <p:cNvSpPr/>
          <p:nvPr/>
        </p:nvSpPr>
        <p:spPr>
          <a:xfrm rot="16200000">
            <a:off x="661911" y="4679495"/>
            <a:ext cx="429062" cy="902821"/>
          </a:xfrm>
          <a:prstGeom prst="up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74A15068-2A97-DE1A-F162-6E3BF323A50C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4315313" y="2601660"/>
            <a:ext cx="470431" cy="915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C92EC857-CB88-460D-40BD-26ACB03BA2F2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flipH="1">
            <a:off x="4315313" y="2601660"/>
            <a:ext cx="470431" cy="9157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3BE96FE8-B65D-C45F-B1F5-71AD93531204}"/>
              </a:ext>
            </a:extLst>
          </p:cNvPr>
          <p:cNvCxnSpPr>
            <a:cxnSpLocks/>
            <a:stCxn id="9" idx="1"/>
            <a:endCxn id="5" idx="3"/>
          </p:cNvCxnSpPr>
          <p:nvPr/>
        </p:nvCxnSpPr>
        <p:spPr>
          <a:xfrm flipH="1" flipV="1">
            <a:off x="4315313" y="3517393"/>
            <a:ext cx="470431" cy="6220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14A89BC4-1087-0A04-93A2-7077533F69D2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2572298" y="3517393"/>
            <a:ext cx="5334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F4C9E6B9-BFD0-A0C5-8454-B72FF3EDAB90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1967498" y="4039933"/>
            <a:ext cx="0" cy="568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2C9269D-3EFB-5F6C-1BEA-AD339E589489}"/>
              </a:ext>
            </a:extLst>
          </p:cNvPr>
          <p:cNvSpPr txBox="1"/>
          <p:nvPr/>
        </p:nvSpPr>
        <p:spPr>
          <a:xfrm>
            <a:off x="2028452" y="4139483"/>
            <a:ext cx="441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irq</a:t>
            </a:r>
            <a:endParaRPr lang="en-US" dirty="0"/>
          </a:p>
        </p:txBody>
      </p:sp>
      <p:sp>
        <p:nvSpPr>
          <p:cNvPr id="15" name="矩形: 圓角 23">
            <a:extLst>
              <a:ext uri="{FF2B5EF4-FFF2-40B4-BE49-F238E27FC236}">
                <a16:creationId xmlns:a16="http://schemas.microsoft.com/office/drawing/2014/main" id="{838A1EBD-CA22-E23D-0CEB-30590C3BC877}"/>
              </a:ext>
            </a:extLst>
          </p:cNvPr>
          <p:cNvSpPr/>
          <p:nvPr/>
        </p:nvSpPr>
        <p:spPr>
          <a:xfrm>
            <a:off x="4785744" y="484996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矩形: 圓角 23">
            <a:extLst>
              <a:ext uri="{FF2B5EF4-FFF2-40B4-BE49-F238E27FC236}">
                <a16:creationId xmlns:a16="http://schemas.microsoft.com/office/drawing/2014/main" id="{7C33956F-CB99-AB9E-AB08-69F54BB688C9}"/>
              </a:ext>
            </a:extLst>
          </p:cNvPr>
          <p:cNvSpPr/>
          <p:nvPr/>
        </p:nvSpPr>
        <p:spPr>
          <a:xfrm>
            <a:off x="4904935" y="5002368"/>
            <a:ext cx="1209600" cy="104508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solidFill>
              <a:srgbClr val="516263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AXI UART</a:t>
            </a:r>
          </a:p>
          <a:p>
            <a:pPr algn="ctr">
              <a:lnSpc>
                <a:spcPct val="100000"/>
              </a:lnSpc>
            </a:pPr>
            <a:r>
              <a:rPr lang="en-US" altLang="zh-TW" sz="1400" spc="-1" dirty="0">
                <a:solidFill>
                  <a:schemeClr val="dk1"/>
                </a:solidFill>
                <a:latin typeface="Arial"/>
              </a:rPr>
              <a:t>16550 * 2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FCF5381-FE96-D7C0-965B-639E5E545202}"/>
              </a:ext>
            </a:extLst>
          </p:cNvPr>
          <p:cNvCxnSpPr>
            <a:cxnSpLocks/>
            <a:stCxn id="15" idx="1"/>
            <a:endCxn id="5" idx="3"/>
          </p:cNvCxnSpPr>
          <p:nvPr/>
        </p:nvCxnSpPr>
        <p:spPr>
          <a:xfrm flipH="1" flipV="1">
            <a:off x="4315313" y="3517393"/>
            <a:ext cx="470431" cy="18551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1">
            <a:extLst>
              <a:ext uri="{FF2B5EF4-FFF2-40B4-BE49-F238E27FC236}">
                <a16:creationId xmlns:a16="http://schemas.microsoft.com/office/drawing/2014/main" id="{791EBDD3-CEF3-62B4-301B-C400B2FF7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4727" y="1525655"/>
            <a:ext cx="5663241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Interrupt handling flow (Normal Mode) 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Peripheral asserts interrupt line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interrupt lines → AXI Interrupt Controller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AXI Interrupt Controller asserts IRQ → CPU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jumps to fixed ISR entry point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eads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axi_intc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source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Branches to corresponding handler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Handler processes the event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peripheral interrupt first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 clear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axi_intc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from ISR, CPU resumes normal execution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79ED9F4-DBD7-DD3A-7920-13BAE010BB9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75800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15587-52FC-4A6B-E62D-0319F98C1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865D2DC-50BC-C4B3-3FE4-EFD4BFFB1F2B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646DE9-60F7-4C50-56D4-C7EB42185999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18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151672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AFFE6F-8DBA-7061-5BC7-4F987527D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Memory Hierarchy</a:t>
            </a:r>
            <a:endParaRPr lang="en-TW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C9A37E-5DF7-F2E5-4038-A385A819522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9856DA5A-CF52-47BD-AC49-21DC5CAD2230}" type="slidenum">
              <a:rPr lang="en-TW" smtClean="0"/>
              <a:t>19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25680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1B114-3126-551B-D14F-7694FD058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D45AED2-3777-0B9D-28A1-26319059B17A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43CCE5-11CC-3B49-5DE2-0047EA3FE0C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20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40668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Hardware Report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64D29A8-FD95-783A-AD15-F9C499BE2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"/>
          <a:stretch>
            <a:fillRect/>
          </a:stretch>
        </p:blipFill>
        <p:spPr>
          <a:xfrm>
            <a:off x="1171638" y="1466849"/>
            <a:ext cx="4003618" cy="268361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E5BD6BE-DE73-149C-1877-D7A6E9C1D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07" y="1466850"/>
            <a:ext cx="5095875" cy="16764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604B8F8-797E-2C2F-ACA8-7C68F608AF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07" y="3143250"/>
            <a:ext cx="5114925" cy="371475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C0E433F-D3EC-6B12-9EAC-B42CBADB70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638" y="4197644"/>
            <a:ext cx="4003617" cy="266035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AF401A-66FE-F592-9DBE-C400667C377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21</a:t>
            </a:fld>
            <a:endParaRPr lang="en-TW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9BFA2-5FFE-EA76-0BAF-34121765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C32D436-D5B4-84CD-319E-EC4ADEEC7495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EF36D6-C7EB-DB37-08B5-E8751B8C7A5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13029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BAE03-C579-AA4B-69B3-D1D72D14A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螢幕擷取畫面, 軟體, 陳列 的圖片&#10;&#10;AI 產生的內容可能不正確。">
            <a:extLst>
              <a:ext uri="{FF2B5EF4-FFF2-40B4-BE49-F238E27FC236}">
                <a16:creationId xmlns:a16="http://schemas.microsoft.com/office/drawing/2014/main" id="{5CBEF84A-A771-0317-6BEE-0A132B0D9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826" y="1542473"/>
            <a:ext cx="9406348" cy="5315527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5EE4AFDB-0585-DC74-0BE3-E5BAFECB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</p:spPr>
        <p:txBody>
          <a:bodyPr/>
          <a:lstStyle/>
          <a:p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Software Design Flow</a:t>
            </a:r>
            <a:endParaRPr lang="en-US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142F10-24DF-95C6-6B52-BA59C526F4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20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8BF885F3-C385-1956-B801-98996BADBBF2}"/>
              </a:ext>
            </a:extLst>
          </p:cNvPr>
          <p:cNvSpPr txBox="1">
            <a:spLocks/>
          </p:cNvSpPr>
          <p:nvPr/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Software Design Flow</a:t>
            </a:r>
            <a:endParaRPr lang="en-US" sz="4000" dirty="0"/>
          </a:p>
        </p:txBody>
      </p:sp>
      <p:pic>
        <p:nvPicPr>
          <p:cNvPr id="9" name="圖片 8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76A925FA-6E34-B744-4808-C88EE86A1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54" y="1563476"/>
            <a:ext cx="9446491" cy="529452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0C2424-FD8F-FEF9-4B77-C809F5A16D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6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710B4-A7EA-2DFC-F7A3-8DCE9873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295FC3-CC32-A8CA-DBC4-95A659AFD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Software Design Flow</a:t>
            </a:r>
            <a:endParaRPr lang="en-US" sz="4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E84174D-0F14-35A9-FC6C-2F4BA35D3324}"/>
              </a:ext>
            </a:extLst>
          </p:cNvPr>
          <p:cNvSpPr txBox="1"/>
          <p:nvPr/>
        </p:nvSpPr>
        <p:spPr>
          <a:xfrm>
            <a:off x="598394" y="1707776"/>
            <a:ext cx="109720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development approaches: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Xilinx Vitis + Embedded SW Libraries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IDE with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BSP auto-generation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drivers for all AXI peripherals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(GPIO, UART, Timer, SPI, EMC)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RISC-V GNU Toolchain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 cross-compiler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(riscv32-unknown-elf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riscv64-unknown-elf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control over linker scripts, startup code, and register-level access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dependency on Xilinx toolchain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target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MicroBlaze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RISC-V soft processor running on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A7-35T.</a:t>
            </a:r>
          </a:p>
          <a:p>
            <a:endParaRPr lang="en-US" dirty="0"/>
          </a:p>
        </p:txBody>
      </p:sp>
      <p:pic>
        <p:nvPicPr>
          <p:cNvPr id="11" name="Picture 9" descr="Vitis Embedded (SDK)">
            <a:extLst>
              <a:ext uri="{FF2B5EF4-FFF2-40B4-BE49-F238E27FC236}">
                <a16:creationId xmlns:a16="http://schemas.microsoft.com/office/drawing/2014/main" id="{395D4C6A-2461-00D5-D090-6455DB6BCC8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103606" y="1995259"/>
            <a:ext cx="2884394" cy="1433741"/>
          </a:xfrm>
          <a:prstGeom prst="rect">
            <a:avLst/>
          </a:prstGeom>
          <a:ln w="0">
            <a:noFill/>
          </a:ln>
        </p:spPr>
      </p:pic>
      <p:pic>
        <p:nvPicPr>
          <p:cNvPr id="1026" name="Picture 2" descr="GitHub - riscv-collab/riscv-gnu-toolchain: GNU toolchain for RISC-V,  including GCC · GitHub">
            <a:extLst>
              <a:ext uri="{FF2B5EF4-FFF2-40B4-BE49-F238E27FC236}">
                <a16:creationId xmlns:a16="http://schemas.microsoft.com/office/drawing/2014/main" id="{97817E2D-132A-2102-7023-6361BEA70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053" y="4039720"/>
            <a:ext cx="3632947" cy="181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7BB35D-0F87-986A-CABE-FD3040F595B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25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96558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2481-0E47-FAC7-65C9-D45B32C8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7C74AF0-CE7A-939F-2FF9-CB98515113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15" b="17297"/>
          <a:stretch>
            <a:fillRect/>
          </a:stretch>
        </p:blipFill>
        <p:spPr>
          <a:xfrm>
            <a:off x="7886700" y="1546486"/>
            <a:ext cx="4150660" cy="430298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F13FDE3-9D9C-5A05-0C52-AF7B30EE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Software Design Flow</a:t>
            </a:r>
            <a:endParaRPr lang="en-US" sz="4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3A019C3-E5A0-DA43-EC4B-B469BB026EFD}"/>
              </a:ext>
            </a:extLst>
          </p:cNvPr>
          <p:cNvSpPr txBox="1"/>
          <p:nvPr/>
        </p:nvSpPr>
        <p:spPr>
          <a:xfrm>
            <a:off x="598394" y="1707776"/>
            <a:ext cx="109720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XSDB (Xilinx System Debugger)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Command-line debug interface over JTAG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MicroBlaze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MDM 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MicroBlaze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Debug Module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Capabilities: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ELF directly to BRAM/SRAM — no Flash needed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Halt, step, and resume CPU execution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Read/write memory and registers in real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rapid code-test-fix cycles during development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bootloader required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2CF60E-1580-F7B8-F3F7-BD2279B220D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26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64692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F21F-EA80-A5EC-88C8-D33A0E12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D346FD8-D42A-B515-8C35-CF954039061A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76AAB7-EB6A-13C6-47F7-60F749CC4A6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0129195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355E2-8D8C-BE82-5BF8-D64A289BC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>
            <a:extLst>
              <a:ext uri="{FF2B5EF4-FFF2-40B4-BE49-F238E27FC236}">
                <a16:creationId xmlns:a16="http://schemas.microsoft.com/office/drawing/2014/main" id="{6630D19B-1BA9-EF8E-9C47-E096B8258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</a:rPr>
              <a:t>JTAG Debug Flow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AutoShape 3">
            <a:extLst>
              <a:ext uri="{FF2B5EF4-FFF2-40B4-BE49-F238E27FC236}">
                <a16:creationId xmlns:a16="http://schemas.microsoft.com/office/drawing/2014/main" id="{5DC04991-490B-FA31-CF4D-3A390138A17A}"/>
              </a:ext>
            </a:extLst>
          </p:cNvPr>
          <p:cNvSpPr/>
          <p:nvPr/>
        </p:nvSpPr>
        <p:spPr>
          <a:xfrm>
            <a:off x="5943600" y="32767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" name="動作按鈕: 說明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3FCC448-A9B1-5427-37F1-D59C23D22D20}"/>
              </a:ext>
            </a:extLst>
          </p:cNvPr>
          <p:cNvSpPr/>
          <p:nvPr/>
        </p:nvSpPr>
        <p:spPr>
          <a:xfrm>
            <a:off x="2554664" y="2309567"/>
            <a:ext cx="6985262" cy="3167406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6BADAD-3AC3-ED5E-3EAD-EF0F2DCFF1B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426550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334A9-887E-0379-E9A8-0B87329B9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6FE46E2-6884-8E38-0EE2-E3D2FDFAB16C}"/>
              </a:ext>
            </a:extLst>
          </p:cNvPr>
          <p:cNvSpPr txBox="1"/>
          <p:nvPr/>
        </p:nvSpPr>
        <p:spPr>
          <a:xfrm>
            <a:off x="572575" y="1468582"/>
            <a:ext cx="112137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Selection and Spec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Microcontroller / AXI Mapping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GPIO / Interrupt System / </a:t>
            </a:r>
            <a:r>
              <a:rPr lang="zh-TW" alt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&amp; PWM / XADC / UART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Report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 Debug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5A9C5E-439C-66E9-1069-2FD157FC2825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29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0230691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pc="-1" dirty="0">
                <a:solidFill>
                  <a:srgbClr val="DDDDDD"/>
                </a:solidFill>
                <a:latin typeface="Calibri"/>
                <a:ea typeface="Calibri"/>
              </a:rPr>
              <a:t>Standalone Boot Sequence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AutoShape 3"/>
          <p:cNvSpPr/>
          <p:nvPr/>
        </p:nvSpPr>
        <p:spPr>
          <a:xfrm>
            <a:off x="5943600" y="32767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" name="動作按鈕: 說明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03DCC72-29F7-D867-D27E-E276AEB886E7}"/>
              </a:ext>
            </a:extLst>
          </p:cNvPr>
          <p:cNvSpPr/>
          <p:nvPr/>
        </p:nvSpPr>
        <p:spPr>
          <a:xfrm>
            <a:off x="2554664" y="2309567"/>
            <a:ext cx="6985262" cy="3167406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28BB30-CB0B-8427-25AF-A0CA255B402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30</a:t>
            </a:fld>
            <a:endParaRPr lang="en-TW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9146F-4393-892E-2F12-74F505DAD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>
            <a:extLst>
              <a:ext uri="{FF2B5EF4-FFF2-40B4-BE49-F238E27FC236}">
                <a16:creationId xmlns:a16="http://schemas.microsoft.com/office/drawing/2014/main" id="{733187EC-F55F-314C-501F-ABB344AA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20" y="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zh-TW" sz="4000" b="1" strike="noStrike" spc="-1" dirty="0">
                <a:solidFill>
                  <a:srgbClr val="DDDDDD"/>
                </a:solidFill>
                <a:latin typeface="Calibri"/>
                <a:ea typeface="Calibri"/>
              </a:rPr>
              <a:t>Issue to Address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AutoShape 3">
            <a:extLst>
              <a:ext uri="{FF2B5EF4-FFF2-40B4-BE49-F238E27FC236}">
                <a16:creationId xmlns:a16="http://schemas.microsoft.com/office/drawing/2014/main" id="{2CC01002-543C-89A6-5077-F58D57F7F171}"/>
              </a:ext>
            </a:extLst>
          </p:cNvPr>
          <p:cNvSpPr/>
          <p:nvPr/>
        </p:nvSpPr>
        <p:spPr>
          <a:xfrm>
            <a:off x="5943600" y="32767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0ADD298-6CC4-87F8-4C0B-13D75EAD4D37}"/>
              </a:ext>
            </a:extLst>
          </p:cNvPr>
          <p:cNvSpPr txBox="1"/>
          <p:nvPr/>
        </p:nvSpPr>
        <p:spPr>
          <a:xfrm>
            <a:off x="598394" y="1707776"/>
            <a:ext cx="109720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(GPIO / Timer)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 input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16550 Baud Rate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更改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XADC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五個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讀值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QSPI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內建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Bitstream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EMC SRAM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設計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Boot Sequence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流程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C85FAF-B12B-E4FB-0C54-D03C84646C5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7A655E-BA10-45EB-B439-1EA08694B58E}" type="slidenum">
              <a:rPr lang="en-TW" smtClean="0"/>
              <a:t>31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021360517"/>
      </p:ext>
    </p:extLst>
  </p:cSld>
  <p:clrMapOvr>
    <a:masterClrMapping/>
  </p:clrMapOvr>
</p:sld>
</file>

<file path=ppt/theme/theme1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626</TotalTime>
  <Words>1739</Words>
  <Application>Microsoft Macintosh PowerPoint</Application>
  <PresentationFormat>Widescreen</PresentationFormat>
  <Paragraphs>363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Cambria Math</vt:lpstr>
      <vt:lpstr>Symbol</vt:lpstr>
      <vt:lpstr>Times New Roman</vt:lpstr>
      <vt:lpstr>Wingdings</vt:lpstr>
      <vt:lpstr>ncku__</vt:lpstr>
      <vt:lpstr>ncku__</vt:lpstr>
      <vt:lpstr>PowerPoint Presentation</vt:lpstr>
      <vt:lpstr>Outline</vt:lpstr>
      <vt:lpstr>Outline</vt:lpstr>
      <vt:lpstr>FPGA Selection and Spec</vt:lpstr>
      <vt:lpstr>FPGA Selection and Spec</vt:lpstr>
      <vt:lpstr>FPGA Selection and Spec</vt:lpstr>
      <vt:lpstr>PowerPoint Presentation</vt:lpstr>
      <vt:lpstr>Overview Microcontroller</vt:lpstr>
      <vt:lpstr>Memory-Mapped I/O vs SFR</vt:lpstr>
      <vt:lpstr>AXI Mapping</vt:lpstr>
      <vt:lpstr>Overview Microcontroller</vt:lpstr>
      <vt:lpstr>PowerPoint Presentation</vt:lpstr>
      <vt:lpstr>GPIO</vt:lpstr>
      <vt:lpstr>Timer &amp; PWM</vt:lpstr>
      <vt:lpstr>UART</vt:lpstr>
      <vt:lpstr>XADC</vt:lpstr>
      <vt:lpstr>Interrupt System</vt:lpstr>
      <vt:lpstr>PowerPoint Presentation</vt:lpstr>
      <vt:lpstr>Memory Hierarchy</vt:lpstr>
      <vt:lpstr>PowerPoint Presentation</vt:lpstr>
      <vt:lpstr>Hardware Report</vt:lpstr>
      <vt:lpstr>PowerPoint Presentation</vt:lpstr>
      <vt:lpstr>Software Design Flow</vt:lpstr>
      <vt:lpstr>PowerPoint Presentation</vt:lpstr>
      <vt:lpstr>Software Design Flow</vt:lpstr>
      <vt:lpstr>Software Design Flow</vt:lpstr>
      <vt:lpstr>PowerPoint Presentation</vt:lpstr>
      <vt:lpstr>JTAG Debug Flow</vt:lpstr>
      <vt:lpstr>PowerPoint Presentation</vt:lpstr>
      <vt:lpstr>Standalone Boot Sequence</vt:lpstr>
      <vt:lpstr>Issue to Address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Windows 使用者</dc:creator>
  <dc:description/>
  <cp:lastModifiedBy>黃偉峰 HUANG, WEI-FENG</cp:lastModifiedBy>
  <cp:revision>147</cp:revision>
  <dcterms:created xsi:type="dcterms:W3CDTF">2018-11-07T14:30:45Z</dcterms:created>
  <dcterms:modified xsi:type="dcterms:W3CDTF">2026-04-05T11:14:44Z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寬螢幕</vt:lpwstr>
  </property>
  <property fmtid="{D5CDD505-2E9C-101B-9397-08002B2CF9AE}" pid="4" name="Slides">
    <vt:i4>17</vt:i4>
  </property>
</Properties>
</file>